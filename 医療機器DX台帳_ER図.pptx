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1" d="100"/>
          <a:sy n="101" d="100"/>
        </p:scale>
        <p:origin x="144"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40026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333A"/>
        </a:solidFill>
        <a:effectLst/>
      </p:bgPr>
    </p:bg>
    <p:spTree>
      <p:nvGrpSpPr>
        <p:cNvPr id="1" name=""/>
        <p:cNvGrpSpPr/>
        <p:nvPr/>
      </p:nvGrpSpPr>
      <p:grpSpPr>
        <a:xfrm>
          <a:off x="0" y="0"/>
          <a:ext cx="0" cy="0"/>
          <a:chOff x="0" y="0"/>
          <a:chExt cx="0" cy="0"/>
        </a:xfrm>
      </p:grpSpPr>
      <p:sp>
        <p:nvSpPr>
          <p:cNvPr id="2" name="Shape 0"/>
          <p:cNvSpPr/>
          <p:nvPr/>
        </p:nvSpPr>
        <p:spPr>
          <a:xfrm>
            <a:off x="7589520" y="1371600"/>
            <a:ext cx="4023360" cy="4114800"/>
          </a:xfrm>
          <a:prstGeom prst="roundRect">
            <a:avLst>
              <a:gd name="adj" fmla="val 2727"/>
            </a:avLst>
          </a:prstGeom>
          <a:solidFill>
            <a:srgbClr val="17454E"/>
          </a:solidFill>
          <a:ln w="12700">
            <a:solidFill>
              <a:srgbClr val="2A6570"/>
            </a:solidFill>
            <a:prstDash val="solid"/>
          </a:ln>
        </p:spPr>
        <p:txBody>
          <a:bodyPr/>
          <a:p/>
        </p:txBody>
      </p:sp>
      <p:sp>
        <p:nvSpPr>
          <p:cNvPr id="3" name="Text 1"/>
          <p:cNvSpPr/>
          <p:nvPr/>
        </p:nvSpPr>
        <p:spPr>
          <a:xfrm>
            <a:off x="7909560" y="1600200"/>
            <a:ext cx="3566160" cy="3657600"/>
          </a:xfrm>
          <a:prstGeom prst="rect">
            <a:avLst/>
          </a:prstGeom>
          <a:noFill/>
          <a:ln/>
        </p:spPr>
        <p:txBody>
          <a:bodyPr wrap="square" lIns="0" tIns="0" rIns="0" bIns="0" rtlCol="0" anchor="t"/>
          <a:lstStyle/>
          <a:p>
            <a:pPr marL="0" indent="0">
              <a:lnSpc>
                <a:spcPts val="2200"/>
              </a:lnSpc>
              <a:buNone/>
            </a:pPr>
            <a:r>
              <a:rPr lang="en-US" sz="1300" dirty="0">
                <a:solidFill>
                  <a:srgbClr val="CFE4E7"/>
                </a:solidFill>
                <a:latin typeface="Meiryo" pitchFamily="34" charset="0"/>
                <a:ea typeface="Meiryo" pitchFamily="34" charset="-122"/>
                <a:cs typeface="Meiryo" pitchFamily="34" charset="-120"/>
              </a:rPr>
              <a:t>機器マスタ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医療機器履歴</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点検結果</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点検表マスタ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点検項目マスタ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機器区分マスタ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アクションマスタ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部署マスタ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保管場所マスタ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ユーザーマスタ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メーカーマスタ</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医療機器管理台帳（ビュー）</a:t>
            </a:r>
            <a:endParaRPr lang="en-US" sz="1300" dirty="0"/>
          </a:p>
          <a:p>
            <a:pPr marL="0" indent="0">
              <a:lnSpc>
                <a:spcPts val="2200"/>
              </a:lnSpc>
              <a:buNone/>
            </a:pPr>
            <a:r>
              <a:rPr lang="en-US" sz="1300" dirty="0">
                <a:solidFill>
                  <a:srgbClr val="CFE4E7"/>
                </a:solidFill>
                <a:latin typeface="Meiryo" pitchFamily="34" charset="0"/>
                <a:ea typeface="Meiryo" pitchFamily="34" charset="-122"/>
                <a:cs typeface="Meiryo" pitchFamily="34" charset="-120"/>
              </a:rPr>
              <a:t>__LOG（動作ログ）</a:t>
            </a:r>
            <a:endParaRPr lang="en-US" sz="1300" dirty="0"/>
          </a:p>
        </p:txBody>
      </p:sp>
      <p:sp>
        <p:nvSpPr>
          <p:cNvPr id="4" name="Text 2"/>
          <p:cNvSpPr/>
          <p:nvPr/>
        </p:nvSpPr>
        <p:spPr>
          <a:xfrm>
            <a:off x="822960" y="1828800"/>
            <a:ext cx="6400800" cy="731520"/>
          </a:xfrm>
          <a:prstGeom prst="rect">
            <a:avLst/>
          </a:prstGeom>
          <a:noFill/>
          <a:ln/>
        </p:spPr>
        <p:txBody>
          <a:bodyPr wrap="square" lIns="0" tIns="0" rIns="0" bIns="0" rtlCol="0" anchor="ctr"/>
          <a:lstStyle/>
          <a:p>
            <a:pPr marL="0" indent="0">
              <a:buNone/>
            </a:pPr>
            <a:r>
              <a:rPr lang="en-US" sz="4200" b="1" dirty="0">
                <a:solidFill>
                  <a:srgbClr val="FFFFFF"/>
                </a:solidFill>
                <a:latin typeface="Meiryo" pitchFamily="34" charset="0"/>
                <a:ea typeface="Meiryo" pitchFamily="34" charset="-122"/>
                <a:cs typeface="Meiryo" pitchFamily="34" charset="-120"/>
              </a:rPr>
              <a:t>医療機器DX台帳</a:t>
            </a:r>
            <a:endParaRPr lang="en-US" sz="4200" dirty="0"/>
          </a:p>
        </p:txBody>
      </p:sp>
      <p:sp>
        <p:nvSpPr>
          <p:cNvPr id="5" name="Text 3"/>
          <p:cNvSpPr/>
          <p:nvPr/>
        </p:nvSpPr>
        <p:spPr>
          <a:xfrm>
            <a:off x="822960" y="2651760"/>
            <a:ext cx="6400800" cy="640080"/>
          </a:xfrm>
          <a:prstGeom prst="rect">
            <a:avLst/>
          </a:prstGeom>
          <a:noFill/>
          <a:ln/>
        </p:spPr>
        <p:txBody>
          <a:bodyPr wrap="square" lIns="0" tIns="0" rIns="0" bIns="0" rtlCol="0" anchor="ctr"/>
          <a:lstStyle/>
          <a:p>
            <a:pPr marL="0" indent="0">
              <a:buNone/>
            </a:pPr>
            <a:r>
              <a:rPr lang="en-US" sz="3000" dirty="0">
                <a:solidFill>
                  <a:srgbClr val="7FC4CE"/>
                </a:solidFill>
                <a:latin typeface="Meiryo" pitchFamily="34" charset="0"/>
                <a:ea typeface="Meiryo" pitchFamily="34" charset="-122"/>
                <a:cs typeface="Meiryo" pitchFamily="34" charset="-120"/>
              </a:rPr>
              <a:t>データベース ER 図</a:t>
            </a:r>
            <a:endParaRPr lang="en-US" sz="3000" dirty="0"/>
          </a:p>
        </p:txBody>
      </p:sp>
      <p:sp>
        <p:nvSpPr>
          <p:cNvPr id="6" name="Text 4"/>
          <p:cNvSpPr/>
          <p:nvPr/>
        </p:nvSpPr>
        <p:spPr>
          <a:xfrm>
            <a:off x="822960" y="3657600"/>
            <a:ext cx="6400800" cy="365760"/>
          </a:xfrm>
          <a:prstGeom prst="rect">
            <a:avLst/>
          </a:prstGeom>
          <a:noFill/>
          <a:ln/>
        </p:spPr>
        <p:txBody>
          <a:bodyPr wrap="square" lIns="0" tIns="0" rIns="0" bIns="0" rtlCol="0" anchor="ctr"/>
          <a:lstStyle/>
          <a:p>
            <a:pPr marL="0" indent="0">
              <a:buNone/>
            </a:pPr>
            <a:r>
              <a:rPr lang="en-US" sz="1500" dirty="0">
                <a:solidFill>
                  <a:srgbClr val="B9D3D7"/>
                </a:solidFill>
                <a:latin typeface="Meiryo" pitchFamily="34" charset="0"/>
                <a:ea typeface="Meiryo" pitchFamily="34" charset="-122"/>
                <a:cs typeface="Meiryo" pitchFamily="34" charset="-120"/>
              </a:rPr>
              <a:t>Google スプレッドシート ／ 全11テーブル + 台帳ビュー + 動作ログ</a:t>
            </a:r>
            <a:endParaRPr lang="en-US" sz="1500" dirty="0"/>
          </a:p>
        </p:txBody>
      </p:sp>
      <p:sp>
        <p:nvSpPr>
          <p:cNvPr id="7" name="Text 5"/>
          <p:cNvSpPr/>
          <p:nvPr/>
        </p:nvSpPr>
        <p:spPr>
          <a:xfrm>
            <a:off x="822960" y="4069080"/>
            <a:ext cx="6400800" cy="365760"/>
          </a:xfrm>
          <a:prstGeom prst="rect">
            <a:avLst/>
          </a:prstGeom>
          <a:noFill/>
          <a:ln/>
        </p:spPr>
        <p:txBody>
          <a:bodyPr wrap="square" lIns="0" tIns="0" rIns="0" bIns="0" rtlCol="0" anchor="ctr"/>
          <a:lstStyle/>
          <a:p>
            <a:pPr marL="0" indent="0">
              <a:buNone/>
            </a:pPr>
            <a:r>
              <a:rPr lang="en-US" sz="1500" dirty="0">
                <a:solidFill>
                  <a:srgbClr val="7E9BA1"/>
                </a:solidFill>
                <a:latin typeface="Meiryo" pitchFamily="34" charset="0"/>
                <a:ea typeface="Meiryo" pitchFamily="34" charset="-122"/>
                <a:cs typeface="Meiryo" pitchFamily="34" charset="-120"/>
              </a:rPr>
              <a:t>2026年10月19日</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全体構成</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a:solidFill>
                  <a:srgbClr val="7B8A8E"/>
                </a:solidFill>
                <a:latin typeface="Meiryo" pitchFamily="34" charset="0"/>
                <a:ea typeface="Meiryo" pitchFamily="34" charset="-122"/>
                <a:cs typeface="Meiryo" pitchFamily="34" charset="-120"/>
              </a:rPr>
              <a:t>11テーブル + 台帳ビュー</a:t>
            </a:r>
            <a:endParaRPr lang="en-US" sz="1400" dirty="0"/>
          </a:p>
        </p:txBody>
      </p:sp>
      <p:sp>
        <p:nvSpPr>
          <p:cNvPr id="4" name="Shape 2"/>
          <p:cNvSpPr/>
          <p:nvPr/>
        </p:nvSpPr>
        <p:spPr>
          <a:xfrm>
            <a:off x="7543800" y="932688"/>
            <a:ext cx="201168" cy="201168"/>
          </a:xfrm>
          <a:prstGeom prst="roundRect">
            <a:avLst>
              <a:gd name="adj" fmla="val 18182"/>
            </a:avLst>
          </a:prstGeom>
          <a:solidFill>
            <a:srgbClr val="FFFFFF"/>
          </a:solidFill>
          <a:ln w="19050">
            <a:solidFill>
              <a:srgbClr val="0B7A85"/>
            </a:solidFill>
            <a:prstDash val="solid"/>
          </a:ln>
        </p:spPr>
        <p:txBody>
          <a:bodyPr/>
          <a:p/>
        </p:txBody>
      </p:sp>
      <p:sp>
        <p:nvSpPr>
          <p:cNvPr id="5" name="Text 3"/>
          <p:cNvSpPr/>
          <p:nvPr/>
        </p:nvSpPr>
        <p:spPr>
          <a:xfrm>
            <a:off x="7799832" y="868680"/>
            <a:ext cx="1371600" cy="329184"/>
          </a:xfrm>
          <a:prstGeom prst="rect">
            <a:avLst/>
          </a:prstGeom>
          <a:noFill/>
          <a:ln/>
        </p:spPr>
        <p:txBody>
          <a:bodyPr wrap="square" lIns="0" tIns="0" rIns="0" bIns="0" rtlCol="0" anchor="ctr"/>
          <a:lstStyle/>
          <a:p>
            <a:pPr marL="0" indent="0">
              <a:buNone/>
            </a:pPr>
            <a:r>
              <a:rPr lang="en-US" sz="1200" dirty="0">
                <a:solidFill>
                  <a:srgbClr val="7B8A8E"/>
                </a:solidFill>
                <a:latin typeface="Meiryo" pitchFamily="34" charset="0"/>
                <a:ea typeface="Meiryo" pitchFamily="34" charset="-122"/>
                <a:cs typeface="Meiryo" pitchFamily="34" charset="-120"/>
              </a:rPr>
              <a:t>マスタ系</a:t>
            </a:r>
            <a:endParaRPr lang="en-US" sz="1200" dirty="0"/>
          </a:p>
        </p:txBody>
      </p:sp>
      <p:sp>
        <p:nvSpPr>
          <p:cNvPr id="6" name="Shape 4"/>
          <p:cNvSpPr/>
          <p:nvPr/>
        </p:nvSpPr>
        <p:spPr>
          <a:xfrm>
            <a:off x="8778240" y="932688"/>
            <a:ext cx="201168" cy="201168"/>
          </a:xfrm>
          <a:prstGeom prst="roundRect">
            <a:avLst>
              <a:gd name="adj" fmla="val 18182"/>
            </a:avLst>
          </a:prstGeom>
          <a:solidFill>
            <a:srgbClr val="FFFFFF"/>
          </a:solidFill>
          <a:ln w="19050">
            <a:solidFill>
              <a:srgbClr val="B26B12"/>
            </a:solidFill>
            <a:prstDash val="solid"/>
          </a:ln>
        </p:spPr>
        <p:txBody>
          <a:bodyPr/>
          <a:p/>
        </p:txBody>
      </p:sp>
      <p:sp>
        <p:nvSpPr>
          <p:cNvPr id="7" name="Text 5"/>
          <p:cNvSpPr/>
          <p:nvPr/>
        </p:nvSpPr>
        <p:spPr>
          <a:xfrm>
            <a:off x="9034272" y="868680"/>
            <a:ext cx="1371600" cy="329184"/>
          </a:xfrm>
          <a:prstGeom prst="rect">
            <a:avLst/>
          </a:prstGeom>
          <a:noFill/>
          <a:ln/>
        </p:spPr>
        <p:txBody>
          <a:bodyPr wrap="square" lIns="0" tIns="0" rIns="0" bIns="0" rtlCol="0" anchor="ctr"/>
          <a:lstStyle/>
          <a:p>
            <a:pPr marL="0" indent="0">
              <a:buNone/>
            </a:pPr>
            <a:r>
              <a:rPr lang="en-US" sz="1200" dirty="0">
                <a:solidFill>
                  <a:srgbClr val="7B8A8E"/>
                </a:solidFill>
                <a:latin typeface="Meiryo" pitchFamily="34" charset="0"/>
                <a:ea typeface="Meiryo" pitchFamily="34" charset="-122"/>
                <a:cs typeface="Meiryo" pitchFamily="34" charset="-120"/>
              </a:rPr>
              <a:t>トランザクション系</a:t>
            </a:r>
            <a:endParaRPr lang="en-US" sz="1200" dirty="0"/>
          </a:p>
        </p:txBody>
      </p:sp>
      <p:sp>
        <p:nvSpPr>
          <p:cNvPr id="8" name="Shape 6"/>
          <p:cNvSpPr/>
          <p:nvPr/>
        </p:nvSpPr>
        <p:spPr>
          <a:xfrm>
            <a:off x="10469880" y="932688"/>
            <a:ext cx="201168" cy="201168"/>
          </a:xfrm>
          <a:prstGeom prst="roundRect">
            <a:avLst>
              <a:gd name="adj" fmla="val 18182"/>
            </a:avLst>
          </a:prstGeom>
          <a:solidFill>
            <a:srgbClr val="FFFFFF"/>
          </a:solidFill>
          <a:ln w="19050">
            <a:solidFill>
              <a:srgbClr val="5A6B70"/>
            </a:solidFill>
            <a:prstDash val="solid"/>
          </a:ln>
        </p:spPr>
        <p:txBody>
          <a:bodyPr/>
          <a:p/>
        </p:txBody>
      </p:sp>
      <p:sp>
        <p:nvSpPr>
          <p:cNvPr id="9" name="Text 7"/>
          <p:cNvSpPr/>
          <p:nvPr/>
        </p:nvSpPr>
        <p:spPr>
          <a:xfrm>
            <a:off x="10725912" y="868680"/>
            <a:ext cx="1371600" cy="329184"/>
          </a:xfrm>
          <a:prstGeom prst="rect">
            <a:avLst/>
          </a:prstGeom>
          <a:noFill/>
          <a:ln/>
        </p:spPr>
        <p:txBody>
          <a:bodyPr wrap="square" lIns="0" tIns="0" rIns="0" bIns="0" rtlCol="0" anchor="ctr"/>
          <a:lstStyle/>
          <a:p>
            <a:pPr marL="0" indent="0">
              <a:buNone/>
            </a:pPr>
            <a:r>
              <a:rPr lang="en-US" sz="1200" dirty="0">
                <a:solidFill>
                  <a:srgbClr val="7B8A8E"/>
                </a:solidFill>
                <a:latin typeface="Meiryo" pitchFamily="34" charset="0"/>
                <a:ea typeface="Meiryo" pitchFamily="34" charset="-122"/>
                <a:cs typeface="Meiryo" pitchFamily="34" charset="-120"/>
              </a:rPr>
              <a:t>ビュー（導出）</a:t>
            </a:r>
            <a:endParaRPr lang="en-US" sz="1200" dirty="0"/>
          </a:p>
        </p:txBody>
      </p:sp>
      <p:sp>
        <p:nvSpPr>
          <p:cNvPr id="10" name="Shape 8"/>
          <p:cNvSpPr/>
          <p:nvPr/>
        </p:nvSpPr>
        <p:spPr>
          <a:xfrm>
            <a:off x="457200" y="1234440"/>
            <a:ext cx="2468880" cy="658368"/>
          </a:xfrm>
          <a:prstGeom prst="roundRect">
            <a:avLst>
              <a:gd name="adj" fmla="val 1111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1" name="Text 9"/>
          <p:cNvSpPr/>
          <p:nvPr/>
        </p:nvSpPr>
        <p:spPr>
          <a:xfrm>
            <a:off x="548640" y="1234440"/>
            <a:ext cx="2286000" cy="658368"/>
          </a:xfrm>
          <a:prstGeom prst="rect">
            <a:avLst/>
          </a:prstGeom>
          <a:noFill/>
          <a:ln/>
        </p:spPr>
        <p:txBody>
          <a:bodyPr wrap="square" lIns="0" tIns="0" rIns="0" bIns="0" rtlCol="0" anchor="ctr"/>
          <a:lstStyle/>
          <a:p>
            <a:pPr marL="0" indent="0" algn="ctr">
              <a:buNone/>
            </a:pPr>
            <a:r>
              <a:rPr lang="en-US" sz="1500" b="1" dirty="0">
                <a:solidFill>
                  <a:srgbClr val="0B7A85"/>
                </a:solidFill>
                <a:latin typeface="Meiryo" pitchFamily="34" charset="0"/>
                <a:ea typeface="Meiryo" pitchFamily="34" charset="-122"/>
                <a:cs typeface="Meiryo" pitchFamily="34" charset="-120"/>
              </a:rPr>
              <a:t>メーカーマスタ</a:t>
            </a:r>
            <a:endParaRPr lang="en-US" sz="1500" dirty="0"/>
          </a:p>
        </p:txBody>
      </p:sp>
      <p:sp>
        <p:nvSpPr>
          <p:cNvPr id="12" name="Shape 10"/>
          <p:cNvSpPr/>
          <p:nvPr/>
        </p:nvSpPr>
        <p:spPr>
          <a:xfrm>
            <a:off x="457200" y="2084832"/>
            <a:ext cx="2468880" cy="658368"/>
          </a:xfrm>
          <a:prstGeom prst="roundRect">
            <a:avLst>
              <a:gd name="adj" fmla="val 1111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3" name="Text 11"/>
          <p:cNvSpPr/>
          <p:nvPr/>
        </p:nvSpPr>
        <p:spPr>
          <a:xfrm>
            <a:off x="548640" y="2084832"/>
            <a:ext cx="2286000" cy="658368"/>
          </a:xfrm>
          <a:prstGeom prst="rect">
            <a:avLst/>
          </a:prstGeom>
          <a:noFill/>
          <a:ln/>
        </p:spPr>
        <p:txBody>
          <a:bodyPr wrap="square" lIns="0" tIns="0" rIns="0" bIns="0" rtlCol="0" anchor="ctr"/>
          <a:lstStyle/>
          <a:p>
            <a:pPr marL="0" indent="0" algn="ctr">
              <a:buNone/>
            </a:pPr>
            <a:r>
              <a:rPr lang="en-US" sz="1500" b="1" dirty="0">
                <a:solidFill>
                  <a:srgbClr val="0B7A85"/>
                </a:solidFill>
                <a:latin typeface="Meiryo" pitchFamily="34" charset="0"/>
                <a:ea typeface="Meiryo" pitchFamily="34" charset="-122"/>
                <a:cs typeface="Meiryo" pitchFamily="34" charset="-120"/>
              </a:rPr>
              <a:t>部署マスタ</a:t>
            </a:r>
            <a:endParaRPr lang="en-US" sz="1500" dirty="0"/>
          </a:p>
        </p:txBody>
      </p:sp>
      <p:sp>
        <p:nvSpPr>
          <p:cNvPr id="14" name="Shape 12"/>
          <p:cNvSpPr/>
          <p:nvPr/>
        </p:nvSpPr>
        <p:spPr>
          <a:xfrm>
            <a:off x="457200" y="2935224"/>
            <a:ext cx="2468880" cy="658368"/>
          </a:xfrm>
          <a:prstGeom prst="roundRect">
            <a:avLst>
              <a:gd name="adj" fmla="val 1111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5" name="Text 13"/>
          <p:cNvSpPr/>
          <p:nvPr/>
        </p:nvSpPr>
        <p:spPr>
          <a:xfrm>
            <a:off x="548640" y="2935224"/>
            <a:ext cx="2286000" cy="658368"/>
          </a:xfrm>
          <a:prstGeom prst="rect">
            <a:avLst/>
          </a:prstGeom>
          <a:noFill/>
          <a:ln/>
        </p:spPr>
        <p:txBody>
          <a:bodyPr wrap="square" lIns="0" tIns="0" rIns="0" bIns="0" rtlCol="0" anchor="ctr"/>
          <a:lstStyle/>
          <a:p>
            <a:pPr marL="0" indent="0" algn="ctr">
              <a:buNone/>
            </a:pPr>
            <a:r>
              <a:rPr lang="en-US" sz="1500" b="1" dirty="0">
                <a:solidFill>
                  <a:srgbClr val="0B7A85"/>
                </a:solidFill>
                <a:latin typeface="Meiryo" pitchFamily="34" charset="0"/>
                <a:ea typeface="Meiryo" pitchFamily="34" charset="-122"/>
                <a:cs typeface="Meiryo" pitchFamily="34" charset="-120"/>
              </a:rPr>
              <a:t>ファイルBOX</a:t>
            </a:r>
            <a:endParaRPr lang="en-US" sz="1500" dirty="0"/>
          </a:p>
          <a:p>
            <a:pPr marL="0" indent="0" algn="ctr">
              <a:buNone/>
            </a:pPr>
            <a:r>
              <a:rPr lang="en-US" sz="1500" b="1" dirty="0">
                <a:solidFill>
                  <a:srgbClr val="0B7A85"/>
                </a:solidFill>
                <a:latin typeface="Meiryo" pitchFamily="34" charset="0"/>
                <a:ea typeface="Meiryo" pitchFamily="34" charset="-122"/>
                <a:cs typeface="Meiryo" pitchFamily="34" charset="-120"/>
              </a:rPr>
              <a:t>Google ドライブ</a:t>
            </a:r>
            <a:endParaRPr lang="en-US" sz="1500" dirty="0"/>
          </a:p>
        </p:txBody>
      </p:sp>
      <p:sp>
        <p:nvSpPr>
          <p:cNvPr id="16" name="Shape 14"/>
          <p:cNvSpPr/>
          <p:nvPr/>
        </p:nvSpPr>
        <p:spPr>
          <a:xfrm>
            <a:off x="457200" y="3785616"/>
            <a:ext cx="2468880" cy="658368"/>
          </a:xfrm>
          <a:prstGeom prst="roundRect">
            <a:avLst>
              <a:gd name="adj" fmla="val 1111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7" name="Text 15"/>
          <p:cNvSpPr/>
          <p:nvPr/>
        </p:nvSpPr>
        <p:spPr>
          <a:xfrm>
            <a:off x="548640" y="3785616"/>
            <a:ext cx="2286000" cy="658368"/>
          </a:xfrm>
          <a:prstGeom prst="rect">
            <a:avLst/>
          </a:prstGeom>
          <a:noFill/>
          <a:ln/>
        </p:spPr>
        <p:txBody>
          <a:bodyPr wrap="square" lIns="0" tIns="0" rIns="0" bIns="0" rtlCol="0" anchor="ctr"/>
          <a:lstStyle/>
          <a:p>
            <a:pPr marL="0" indent="0" algn="ctr">
              <a:buNone/>
            </a:pPr>
            <a:r>
              <a:rPr lang="en-US" sz="1500" b="1" dirty="0">
                <a:solidFill>
                  <a:srgbClr val="0B7A85"/>
                </a:solidFill>
                <a:latin typeface="Meiryo" pitchFamily="34" charset="0"/>
                <a:ea typeface="Meiryo" pitchFamily="34" charset="-122"/>
                <a:cs typeface="Meiryo" pitchFamily="34" charset="-120"/>
              </a:rPr>
              <a:t>ユーザーマスタ</a:t>
            </a:r>
            <a:endParaRPr lang="en-US" sz="1500" dirty="0"/>
          </a:p>
        </p:txBody>
      </p:sp>
      <p:sp>
        <p:nvSpPr>
          <p:cNvPr id="18" name="Shape 16"/>
          <p:cNvSpPr/>
          <p:nvPr/>
        </p:nvSpPr>
        <p:spPr>
          <a:xfrm>
            <a:off x="457200" y="4636008"/>
            <a:ext cx="2468880" cy="658368"/>
          </a:xfrm>
          <a:prstGeom prst="roundRect">
            <a:avLst>
              <a:gd name="adj" fmla="val 1111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9" name="Text 17"/>
          <p:cNvSpPr/>
          <p:nvPr/>
        </p:nvSpPr>
        <p:spPr>
          <a:xfrm>
            <a:off x="548640" y="4636008"/>
            <a:ext cx="2286000" cy="658368"/>
          </a:xfrm>
          <a:prstGeom prst="rect">
            <a:avLst/>
          </a:prstGeom>
          <a:noFill/>
          <a:ln/>
        </p:spPr>
        <p:txBody>
          <a:bodyPr wrap="square" lIns="0" tIns="0" rIns="0" bIns="0" rtlCol="0" anchor="ctr"/>
          <a:lstStyle/>
          <a:p>
            <a:pPr marL="0" indent="0" algn="ctr">
              <a:buNone/>
            </a:pPr>
            <a:r>
              <a:rPr lang="en-US" sz="1500" b="1" dirty="0">
                <a:solidFill>
                  <a:srgbClr val="0B7A85"/>
                </a:solidFill>
                <a:latin typeface="Meiryo" pitchFamily="34" charset="0"/>
                <a:ea typeface="Meiryo" pitchFamily="34" charset="-122"/>
                <a:cs typeface="Meiryo" pitchFamily="34" charset="-120"/>
              </a:rPr>
              <a:t>アクションマスタ</a:t>
            </a:r>
            <a:endParaRPr lang="en-US" sz="1500" dirty="0"/>
          </a:p>
        </p:txBody>
      </p:sp>
      <p:sp>
        <p:nvSpPr>
          <p:cNvPr id="20" name="Shape 18"/>
          <p:cNvSpPr/>
          <p:nvPr/>
        </p:nvSpPr>
        <p:spPr>
          <a:xfrm>
            <a:off x="457200" y="5486400"/>
            <a:ext cx="2468880" cy="658368"/>
          </a:xfrm>
          <a:prstGeom prst="roundRect">
            <a:avLst>
              <a:gd name="adj" fmla="val 1111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21" name="Text 19"/>
          <p:cNvSpPr/>
          <p:nvPr/>
        </p:nvSpPr>
        <p:spPr>
          <a:xfrm>
            <a:off x="548640" y="5486400"/>
            <a:ext cx="2286000" cy="658368"/>
          </a:xfrm>
          <a:prstGeom prst="rect">
            <a:avLst/>
          </a:prstGeom>
          <a:noFill/>
          <a:ln/>
        </p:spPr>
        <p:txBody>
          <a:bodyPr wrap="square" lIns="0" tIns="0" rIns="0" bIns="0" rtlCol="0" anchor="ctr"/>
          <a:lstStyle/>
          <a:p>
            <a:pPr marL="0" indent="0" algn="ctr">
              <a:buNone/>
            </a:pPr>
            <a:r>
              <a:rPr lang="en-US" sz="1500" b="1" dirty="0" err="1">
                <a:solidFill>
                  <a:srgbClr val="0B7A85"/>
                </a:solidFill>
                <a:latin typeface="Meiryo" pitchFamily="34" charset="0"/>
                <a:ea typeface="Meiryo" pitchFamily="34" charset="-122"/>
                <a:cs typeface="Meiryo" pitchFamily="34" charset="-120"/>
              </a:rPr>
              <a:t>保管場所マスタ</a:t>
            </a:r>
            <a:endParaRPr lang="en-US" sz="1500" dirty="0"/>
          </a:p>
        </p:txBody>
      </p:sp>
      <p:sp>
        <p:nvSpPr>
          <p:cNvPr id="22" name="Shape 20"/>
          <p:cNvSpPr/>
          <p:nvPr/>
        </p:nvSpPr>
        <p:spPr>
          <a:xfrm>
            <a:off x="4480560" y="1188720"/>
            <a:ext cx="3017520" cy="749808"/>
          </a:xfrm>
          <a:prstGeom prst="roundRect">
            <a:avLst>
              <a:gd name="adj" fmla="val 9756"/>
            </a:avLst>
          </a:prstGeom>
          <a:solidFill>
            <a:srgbClr val="FFFFFF"/>
          </a:solidFill>
          <a:ln w="19050">
            <a:solidFill>
              <a:srgbClr val="5A6B70"/>
            </a:solidFill>
            <a:prstDash val="solid"/>
          </a:ln>
          <a:effectLst>
            <a:outerShdw blurRad="127000" dist="12700" dir="5400000" algn="bl" rotWithShape="0">
              <a:srgbClr val="8FA3A7">
                <a:alpha val="30000"/>
              </a:srgbClr>
            </a:outerShdw>
          </a:effectLst>
        </p:spPr>
        <p:txBody>
          <a:bodyPr/>
          <a:p/>
        </p:txBody>
      </p:sp>
      <p:sp>
        <p:nvSpPr>
          <p:cNvPr id="23" name="Text 21"/>
          <p:cNvSpPr/>
          <p:nvPr/>
        </p:nvSpPr>
        <p:spPr>
          <a:xfrm>
            <a:off x="4572000" y="1188720"/>
            <a:ext cx="2834640" cy="749808"/>
          </a:xfrm>
          <a:prstGeom prst="rect">
            <a:avLst/>
          </a:prstGeom>
          <a:noFill/>
          <a:ln/>
        </p:spPr>
        <p:txBody>
          <a:bodyPr wrap="square" lIns="0" tIns="0" rIns="0" bIns="0" rtlCol="0" anchor="ctr"/>
          <a:lstStyle/>
          <a:p>
            <a:pPr marL="0" indent="0" algn="ctr">
              <a:buNone/>
            </a:pPr>
            <a:r>
              <a:rPr lang="en-US" sz="1500" b="1" dirty="0">
                <a:solidFill>
                  <a:srgbClr val="5A6B70"/>
                </a:solidFill>
                <a:latin typeface="Meiryo" pitchFamily="34" charset="0"/>
                <a:ea typeface="Meiryo" pitchFamily="34" charset="-122"/>
                <a:cs typeface="Meiryo" pitchFamily="34" charset="-120"/>
              </a:rPr>
              <a:t>医療機器管理台帳（ビュー）</a:t>
            </a:r>
            <a:endParaRPr lang="en-US" sz="1500" dirty="0"/>
          </a:p>
        </p:txBody>
      </p:sp>
      <p:sp>
        <p:nvSpPr>
          <p:cNvPr id="24" name="Shape 22"/>
          <p:cNvSpPr/>
          <p:nvPr/>
        </p:nvSpPr>
        <p:spPr>
          <a:xfrm>
            <a:off x="4480560" y="2514600"/>
            <a:ext cx="3017520" cy="868680"/>
          </a:xfrm>
          <a:prstGeom prst="roundRect">
            <a:avLst>
              <a:gd name="adj" fmla="val 842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25" name="Text 23"/>
          <p:cNvSpPr/>
          <p:nvPr/>
        </p:nvSpPr>
        <p:spPr>
          <a:xfrm>
            <a:off x="4572000" y="2514600"/>
            <a:ext cx="2834640" cy="868680"/>
          </a:xfrm>
          <a:prstGeom prst="rect">
            <a:avLst/>
          </a:prstGeom>
          <a:noFill/>
          <a:ln/>
        </p:spPr>
        <p:txBody>
          <a:bodyPr wrap="square" lIns="0" tIns="0" rIns="0" bIns="0" rtlCol="0" anchor="ctr"/>
          <a:lstStyle/>
          <a:p>
            <a:pPr marL="0" indent="0" algn="ctr">
              <a:buNone/>
            </a:pPr>
            <a:r>
              <a:rPr lang="en-US" sz="1900" b="1" dirty="0">
                <a:solidFill>
                  <a:srgbClr val="0B7A85"/>
                </a:solidFill>
                <a:latin typeface="Meiryo" pitchFamily="34" charset="0"/>
                <a:ea typeface="Meiryo" pitchFamily="34" charset="-122"/>
                <a:cs typeface="Meiryo" pitchFamily="34" charset="-120"/>
              </a:rPr>
              <a:t>機器マスタ</a:t>
            </a:r>
            <a:endParaRPr lang="en-US" sz="1900" dirty="0"/>
          </a:p>
        </p:txBody>
      </p:sp>
      <p:sp>
        <p:nvSpPr>
          <p:cNvPr id="26" name="Shape 24"/>
          <p:cNvSpPr/>
          <p:nvPr/>
        </p:nvSpPr>
        <p:spPr>
          <a:xfrm>
            <a:off x="4480560" y="3977640"/>
            <a:ext cx="3017520" cy="868680"/>
          </a:xfrm>
          <a:prstGeom prst="roundRect">
            <a:avLst>
              <a:gd name="adj" fmla="val 8421"/>
            </a:avLst>
          </a:prstGeom>
          <a:solidFill>
            <a:srgbClr val="FFFFFF"/>
          </a:solidFill>
          <a:ln w="19050">
            <a:solidFill>
              <a:srgbClr val="B26B12"/>
            </a:solidFill>
            <a:prstDash val="solid"/>
          </a:ln>
          <a:effectLst>
            <a:outerShdw blurRad="127000" dist="12700" dir="5400000" algn="bl" rotWithShape="0">
              <a:srgbClr val="8FA3A7">
                <a:alpha val="30000"/>
              </a:srgbClr>
            </a:outerShdw>
          </a:effectLst>
        </p:spPr>
        <p:txBody>
          <a:bodyPr/>
          <a:p/>
        </p:txBody>
      </p:sp>
      <p:sp>
        <p:nvSpPr>
          <p:cNvPr id="27" name="Text 25"/>
          <p:cNvSpPr/>
          <p:nvPr/>
        </p:nvSpPr>
        <p:spPr>
          <a:xfrm>
            <a:off x="4572000" y="3977640"/>
            <a:ext cx="2834640" cy="868680"/>
          </a:xfrm>
          <a:prstGeom prst="rect">
            <a:avLst/>
          </a:prstGeom>
          <a:noFill/>
          <a:ln/>
        </p:spPr>
        <p:txBody>
          <a:bodyPr wrap="square" lIns="0" tIns="0" rIns="0" bIns="0" rtlCol="0" anchor="ctr"/>
          <a:lstStyle/>
          <a:p>
            <a:pPr marL="0" indent="0" algn="ctr">
              <a:buNone/>
            </a:pPr>
            <a:r>
              <a:rPr lang="en-US" sz="1900" b="1" dirty="0">
                <a:solidFill>
                  <a:srgbClr val="B26B12"/>
                </a:solidFill>
                <a:latin typeface="Meiryo" pitchFamily="34" charset="0"/>
                <a:ea typeface="Meiryo" pitchFamily="34" charset="-122"/>
                <a:cs typeface="Meiryo" pitchFamily="34" charset="-120"/>
              </a:rPr>
              <a:t>医療機器履歴</a:t>
            </a:r>
            <a:endParaRPr lang="en-US" sz="1900" dirty="0"/>
          </a:p>
        </p:txBody>
      </p:sp>
      <p:sp>
        <p:nvSpPr>
          <p:cNvPr id="28" name="Shape 26"/>
          <p:cNvSpPr/>
          <p:nvPr/>
        </p:nvSpPr>
        <p:spPr>
          <a:xfrm>
            <a:off x="4480560" y="5440680"/>
            <a:ext cx="3017520" cy="868680"/>
          </a:xfrm>
          <a:prstGeom prst="roundRect">
            <a:avLst>
              <a:gd name="adj" fmla="val 8421"/>
            </a:avLst>
          </a:prstGeom>
          <a:solidFill>
            <a:srgbClr val="FFFFFF"/>
          </a:solidFill>
          <a:ln w="19050">
            <a:solidFill>
              <a:srgbClr val="B26B12"/>
            </a:solidFill>
            <a:prstDash val="solid"/>
          </a:ln>
          <a:effectLst>
            <a:outerShdw blurRad="127000" dist="12700" dir="5400000" algn="bl" rotWithShape="0">
              <a:srgbClr val="8FA3A7">
                <a:alpha val="30000"/>
              </a:srgbClr>
            </a:outerShdw>
          </a:effectLst>
        </p:spPr>
        <p:txBody>
          <a:bodyPr/>
          <a:p/>
        </p:txBody>
      </p:sp>
      <p:sp>
        <p:nvSpPr>
          <p:cNvPr id="29" name="Text 27"/>
          <p:cNvSpPr/>
          <p:nvPr/>
        </p:nvSpPr>
        <p:spPr>
          <a:xfrm>
            <a:off x="4572000" y="5440680"/>
            <a:ext cx="2834640" cy="868680"/>
          </a:xfrm>
          <a:prstGeom prst="rect">
            <a:avLst/>
          </a:prstGeom>
          <a:noFill/>
          <a:ln/>
        </p:spPr>
        <p:txBody>
          <a:bodyPr wrap="square" lIns="0" tIns="0" rIns="0" bIns="0" rtlCol="0" anchor="ctr"/>
          <a:lstStyle/>
          <a:p>
            <a:pPr marL="0" indent="0" algn="ctr">
              <a:buNone/>
            </a:pPr>
            <a:r>
              <a:rPr lang="en-US" sz="1900" b="1" dirty="0">
                <a:solidFill>
                  <a:srgbClr val="B26B12"/>
                </a:solidFill>
                <a:latin typeface="Meiryo" pitchFamily="34" charset="0"/>
                <a:ea typeface="Meiryo" pitchFamily="34" charset="-122"/>
                <a:cs typeface="Meiryo" pitchFamily="34" charset="-120"/>
              </a:rPr>
              <a:t>点検結果</a:t>
            </a:r>
            <a:endParaRPr lang="en-US" sz="1900" dirty="0"/>
          </a:p>
        </p:txBody>
      </p:sp>
      <p:sp>
        <p:nvSpPr>
          <p:cNvPr id="30" name="Shape 28"/>
          <p:cNvSpPr/>
          <p:nvPr/>
        </p:nvSpPr>
        <p:spPr>
          <a:xfrm>
            <a:off x="9052560" y="2514600"/>
            <a:ext cx="2651760" cy="868680"/>
          </a:xfrm>
          <a:prstGeom prst="roundRect">
            <a:avLst>
              <a:gd name="adj" fmla="val 842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31" name="Text 29"/>
          <p:cNvSpPr/>
          <p:nvPr/>
        </p:nvSpPr>
        <p:spPr>
          <a:xfrm>
            <a:off x="9144000" y="2514600"/>
            <a:ext cx="2468880" cy="868680"/>
          </a:xfrm>
          <a:prstGeom prst="rect">
            <a:avLst/>
          </a:prstGeom>
          <a:noFill/>
          <a:ln/>
        </p:spPr>
        <p:txBody>
          <a:bodyPr wrap="square" lIns="0" tIns="0" rIns="0" bIns="0" rtlCol="0" anchor="ctr"/>
          <a:lstStyle/>
          <a:p>
            <a:pPr marL="0" indent="0" algn="ctr">
              <a:buNone/>
            </a:pPr>
            <a:r>
              <a:rPr lang="en-US" sz="1700" b="1" dirty="0">
                <a:solidFill>
                  <a:srgbClr val="0B7A85"/>
                </a:solidFill>
                <a:latin typeface="Meiryo" pitchFamily="34" charset="0"/>
                <a:ea typeface="Meiryo" pitchFamily="34" charset="-122"/>
                <a:cs typeface="Meiryo" pitchFamily="34" charset="-120"/>
              </a:rPr>
              <a:t>機器区分マスタ</a:t>
            </a:r>
            <a:endParaRPr lang="en-US" sz="1700" dirty="0"/>
          </a:p>
        </p:txBody>
      </p:sp>
      <p:sp>
        <p:nvSpPr>
          <p:cNvPr id="32" name="Shape 30"/>
          <p:cNvSpPr/>
          <p:nvPr/>
        </p:nvSpPr>
        <p:spPr>
          <a:xfrm>
            <a:off x="9052560" y="3977640"/>
            <a:ext cx="2651760" cy="868680"/>
          </a:xfrm>
          <a:prstGeom prst="roundRect">
            <a:avLst>
              <a:gd name="adj" fmla="val 842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33" name="Text 31"/>
          <p:cNvSpPr/>
          <p:nvPr/>
        </p:nvSpPr>
        <p:spPr>
          <a:xfrm>
            <a:off x="9144000" y="3977640"/>
            <a:ext cx="2468880" cy="868680"/>
          </a:xfrm>
          <a:prstGeom prst="rect">
            <a:avLst/>
          </a:prstGeom>
          <a:noFill/>
          <a:ln/>
        </p:spPr>
        <p:txBody>
          <a:bodyPr wrap="square" lIns="0" tIns="0" rIns="0" bIns="0" rtlCol="0" anchor="ctr"/>
          <a:lstStyle/>
          <a:p>
            <a:pPr marL="0" indent="0" algn="ctr">
              <a:buNone/>
            </a:pPr>
            <a:r>
              <a:rPr lang="en-US" sz="1700" b="1" dirty="0">
                <a:solidFill>
                  <a:srgbClr val="0B7A85"/>
                </a:solidFill>
                <a:latin typeface="Meiryo" pitchFamily="34" charset="0"/>
                <a:ea typeface="Meiryo" pitchFamily="34" charset="-122"/>
                <a:cs typeface="Meiryo" pitchFamily="34" charset="-120"/>
              </a:rPr>
              <a:t>点検表マスタ</a:t>
            </a:r>
            <a:endParaRPr lang="en-US" sz="1700" dirty="0"/>
          </a:p>
        </p:txBody>
      </p:sp>
      <p:sp>
        <p:nvSpPr>
          <p:cNvPr id="34" name="Shape 32"/>
          <p:cNvSpPr/>
          <p:nvPr/>
        </p:nvSpPr>
        <p:spPr>
          <a:xfrm>
            <a:off x="9052560" y="5440680"/>
            <a:ext cx="2651760" cy="868680"/>
          </a:xfrm>
          <a:prstGeom prst="roundRect">
            <a:avLst>
              <a:gd name="adj" fmla="val 842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35" name="Text 33"/>
          <p:cNvSpPr/>
          <p:nvPr/>
        </p:nvSpPr>
        <p:spPr>
          <a:xfrm>
            <a:off x="9144000" y="5440680"/>
            <a:ext cx="2468880" cy="868680"/>
          </a:xfrm>
          <a:prstGeom prst="rect">
            <a:avLst/>
          </a:prstGeom>
          <a:noFill/>
          <a:ln/>
        </p:spPr>
        <p:txBody>
          <a:bodyPr wrap="square" lIns="0" tIns="0" rIns="0" bIns="0" rtlCol="0" anchor="ctr"/>
          <a:lstStyle/>
          <a:p>
            <a:pPr marL="0" indent="0" algn="ctr">
              <a:buNone/>
            </a:pPr>
            <a:r>
              <a:rPr lang="en-US" sz="1700" b="1" dirty="0">
                <a:solidFill>
                  <a:srgbClr val="0B7A85"/>
                </a:solidFill>
                <a:latin typeface="Meiryo" pitchFamily="34" charset="0"/>
                <a:ea typeface="Meiryo" pitchFamily="34" charset="-122"/>
                <a:cs typeface="Meiryo" pitchFamily="34" charset="-120"/>
              </a:rPr>
              <a:t>点検項目マスタ</a:t>
            </a:r>
            <a:endParaRPr lang="en-US" sz="1700" dirty="0"/>
          </a:p>
        </p:txBody>
      </p:sp>
      <p:sp>
        <p:nvSpPr>
          <p:cNvPr id="36" name="Shape 34"/>
          <p:cNvSpPr/>
          <p:nvPr/>
        </p:nvSpPr>
        <p:spPr>
          <a:xfrm>
            <a:off x="2926080" y="1563624"/>
            <a:ext cx="1554480" cy="1133856"/>
          </a:xfrm>
          <a:prstGeom prst="line">
            <a:avLst/>
          </a:prstGeom>
          <a:noFill/>
          <a:ln w="15875">
            <a:solidFill>
              <a:srgbClr val="0B7A85"/>
            </a:solidFill>
            <a:prstDash val="solid"/>
            <a:tailEnd type="triangle"/>
          </a:ln>
        </p:spPr>
        <p:txBody>
          <a:bodyPr/>
          <a:p/>
        </p:txBody>
      </p:sp>
      <p:sp>
        <p:nvSpPr>
          <p:cNvPr id="37" name="Shape 35"/>
          <p:cNvSpPr/>
          <p:nvPr/>
        </p:nvSpPr>
        <p:spPr>
          <a:xfrm>
            <a:off x="2926080" y="2414016"/>
            <a:ext cx="1554480" cy="466344"/>
          </a:xfrm>
          <a:prstGeom prst="line">
            <a:avLst/>
          </a:prstGeom>
          <a:noFill/>
          <a:ln w="15875">
            <a:solidFill>
              <a:srgbClr val="0B7A85"/>
            </a:solidFill>
            <a:prstDash val="solid"/>
            <a:tailEnd type="triangle"/>
          </a:ln>
        </p:spPr>
        <p:txBody>
          <a:bodyPr/>
          <a:p/>
        </p:txBody>
      </p:sp>
      <p:sp>
        <p:nvSpPr>
          <p:cNvPr id="38" name="Shape 36"/>
          <p:cNvSpPr/>
          <p:nvPr/>
        </p:nvSpPr>
        <p:spPr>
          <a:xfrm flipV="1">
            <a:off x="2926080" y="3154680"/>
            <a:ext cx="1554480" cy="109728"/>
          </a:xfrm>
          <a:prstGeom prst="line">
            <a:avLst/>
          </a:prstGeom>
          <a:noFill/>
          <a:ln w="15875">
            <a:solidFill>
              <a:srgbClr val="0B7A85"/>
            </a:solidFill>
            <a:prstDash val="solid"/>
            <a:tailEnd type="triangle"/>
          </a:ln>
        </p:spPr>
        <p:txBody>
          <a:bodyPr/>
          <a:p/>
        </p:txBody>
      </p:sp>
      <p:sp>
        <p:nvSpPr>
          <p:cNvPr id="39" name="Shape 37"/>
          <p:cNvSpPr/>
          <p:nvPr/>
        </p:nvSpPr>
        <p:spPr>
          <a:xfrm>
            <a:off x="2926080" y="4114800"/>
            <a:ext cx="1554480" cy="91440"/>
          </a:xfrm>
          <a:prstGeom prst="line">
            <a:avLst/>
          </a:prstGeom>
          <a:noFill/>
          <a:ln w="15875">
            <a:solidFill>
              <a:srgbClr val="0B7A85"/>
            </a:solidFill>
            <a:prstDash val="solid"/>
            <a:tailEnd type="triangle"/>
          </a:ln>
        </p:spPr>
        <p:txBody>
          <a:bodyPr/>
          <a:p/>
        </p:txBody>
      </p:sp>
      <p:sp>
        <p:nvSpPr>
          <p:cNvPr id="40" name="Shape 38"/>
          <p:cNvSpPr/>
          <p:nvPr/>
        </p:nvSpPr>
        <p:spPr>
          <a:xfrm flipV="1">
            <a:off x="2926080" y="4480560"/>
            <a:ext cx="1554480" cy="484632"/>
          </a:xfrm>
          <a:prstGeom prst="line">
            <a:avLst/>
          </a:prstGeom>
          <a:noFill/>
          <a:ln w="15875">
            <a:solidFill>
              <a:srgbClr val="0B7A85"/>
            </a:solidFill>
            <a:prstDash val="solid"/>
            <a:tailEnd type="triangle"/>
          </a:ln>
        </p:spPr>
        <p:txBody>
          <a:bodyPr/>
          <a:p/>
        </p:txBody>
      </p:sp>
      <p:sp>
        <p:nvSpPr>
          <p:cNvPr id="41" name="Shape 39"/>
          <p:cNvSpPr/>
          <p:nvPr/>
        </p:nvSpPr>
        <p:spPr>
          <a:xfrm flipV="1">
            <a:off x="2926080" y="4709160"/>
            <a:ext cx="1554480" cy="1106424"/>
          </a:xfrm>
          <a:prstGeom prst="line">
            <a:avLst/>
          </a:prstGeom>
          <a:noFill/>
          <a:ln w="15875">
            <a:solidFill>
              <a:srgbClr val="0B7A85"/>
            </a:solidFill>
            <a:prstDash val="solid"/>
            <a:tailEnd type="triangle"/>
          </a:ln>
        </p:spPr>
        <p:txBody>
          <a:bodyPr/>
          <a:p/>
        </p:txBody>
      </p:sp>
      <p:sp>
        <p:nvSpPr>
          <p:cNvPr id="42" name="Shape 40"/>
          <p:cNvSpPr/>
          <p:nvPr/>
        </p:nvSpPr>
        <p:spPr>
          <a:xfrm>
            <a:off x="5989320" y="3383280"/>
            <a:ext cx="0" cy="594360"/>
          </a:xfrm>
          <a:prstGeom prst="line">
            <a:avLst/>
          </a:prstGeom>
          <a:noFill/>
          <a:ln w="15875">
            <a:solidFill>
              <a:srgbClr val="B26B12"/>
            </a:solidFill>
            <a:prstDash val="solid"/>
            <a:tailEnd type="triangle"/>
          </a:ln>
        </p:spPr>
        <p:txBody>
          <a:bodyPr/>
          <a:p/>
        </p:txBody>
      </p:sp>
      <p:sp>
        <p:nvSpPr>
          <p:cNvPr id="43" name="Shape 41"/>
          <p:cNvSpPr/>
          <p:nvPr/>
        </p:nvSpPr>
        <p:spPr>
          <a:xfrm>
            <a:off x="5989320" y="4846320"/>
            <a:ext cx="0" cy="594360"/>
          </a:xfrm>
          <a:prstGeom prst="line">
            <a:avLst/>
          </a:prstGeom>
          <a:noFill/>
          <a:ln w="15875">
            <a:solidFill>
              <a:srgbClr val="B26B12"/>
            </a:solidFill>
            <a:prstDash val="solid"/>
            <a:tailEnd type="triangle"/>
          </a:ln>
        </p:spPr>
        <p:txBody>
          <a:bodyPr/>
          <a:p/>
        </p:txBody>
      </p:sp>
      <p:sp>
        <p:nvSpPr>
          <p:cNvPr id="44" name="Text 42"/>
          <p:cNvSpPr/>
          <p:nvPr/>
        </p:nvSpPr>
        <p:spPr>
          <a:xfrm>
            <a:off x="6099048" y="3502152"/>
            <a:ext cx="82296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45" name="Text 43"/>
          <p:cNvSpPr/>
          <p:nvPr/>
        </p:nvSpPr>
        <p:spPr>
          <a:xfrm>
            <a:off x="6099048" y="4965192"/>
            <a:ext cx="82296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46" name="Shape 44"/>
          <p:cNvSpPr/>
          <p:nvPr/>
        </p:nvSpPr>
        <p:spPr>
          <a:xfrm flipH="1">
            <a:off x="7498080" y="2948940"/>
            <a:ext cx="1554480" cy="0"/>
          </a:xfrm>
          <a:prstGeom prst="line">
            <a:avLst/>
          </a:prstGeom>
          <a:noFill/>
          <a:ln w="15875">
            <a:solidFill>
              <a:srgbClr val="0B7A85"/>
            </a:solidFill>
            <a:prstDash val="solid"/>
            <a:tailEnd type="triangle"/>
          </a:ln>
        </p:spPr>
        <p:txBody>
          <a:bodyPr/>
          <a:p/>
        </p:txBody>
      </p:sp>
      <p:sp>
        <p:nvSpPr>
          <p:cNvPr id="47" name="Shape 45"/>
          <p:cNvSpPr/>
          <p:nvPr/>
        </p:nvSpPr>
        <p:spPr>
          <a:xfrm flipH="1">
            <a:off x="7498080" y="5875020"/>
            <a:ext cx="1554480" cy="0"/>
          </a:xfrm>
          <a:prstGeom prst="line">
            <a:avLst/>
          </a:prstGeom>
          <a:noFill/>
          <a:ln w="15875">
            <a:solidFill>
              <a:srgbClr val="0B7A85"/>
            </a:solidFill>
            <a:prstDash val="solid"/>
            <a:tailEnd type="triangle"/>
          </a:ln>
        </p:spPr>
        <p:txBody>
          <a:bodyPr/>
          <a:p/>
        </p:txBody>
      </p:sp>
      <p:sp>
        <p:nvSpPr>
          <p:cNvPr id="48" name="Shape 46"/>
          <p:cNvSpPr/>
          <p:nvPr/>
        </p:nvSpPr>
        <p:spPr>
          <a:xfrm>
            <a:off x="10378440" y="3383280"/>
            <a:ext cx="0" cy="594360"/>
          </a:xfrm>
          <a:prstGeom prst="line">
            <a:avLst/>
          </a:prstGeom>
          <a:noFill/>
          <a:ln w="15875">
            <a:solidFill>
              <a:srgbClr val="0B7A85"/>
            </a:solidFill>
            <a:prstDash val="solid"/>
            <a:tailEnd type="triangle"/>
          </a:ln>
        </p:spPr>
        <p:txBody>
          <a:bodyPr/>
          <a:p/>
        </p:txBody>
      </p:sp>
      <p:sp>
        <p:nvSpPr>
          <p:cNvPr id="49" name="Shape 47"/>
          <p:cNvSpPr/>
          <p:nvPr/>
        </p:nvSpPr>
        <p:spPr>
          <a:xfrm>
            <a:off x="10378440" y="4846320"/>
            <a:ext cx="0" cy="594360"/>
          </a:xfrm>
          <a:prstGeom prst="line">
            <a:avLst/>
          </a:prstGeom>
          <a:noFill/>
          <a:ln w="15875">
            <a:solidFill>
              <a:srgbClr val="0B7A85"/>
            </a:solidFill>
            <a:prstDash val="solid"/>
            <a:tailEnd type="triangle"/>
          </a:ln>
        </p:spPr>
        <p:txBody>
          <a:bodyPr/>
          <a:p/>
        </p:txBody>
      </p:sp>
      <p:sp>
        <p:nvSpPr>
          <p:cNvPr id="50" name="Shape 48"/>
          <p:cNvSpPr/>
          <p:nvPr/>
        </p:nvSpPr>
        <p:spPr>
          <a:xfrm flipV="1">
            <a:off x="5989320" y="1938528"/>
            <a:ext cx="0" cy="576072"/>
          </a:xfrm>
          <a:prstGeom prst="line">
            <a:avLst/>
          </a:prstGeom>
          <a:noFill/>
          <a:ln w="15875">
            <a:solidFill>
              <a:srgbClr val="5A6B70"/>
            </a:solidFill>
            <a:prstDash val="solid"/>
            <a:tailEnd type="triangle"/>
          </a:ln>
        </p:spPr>
        <p:txBody>
          <a:bodyPr/>
          <a:p/>
        </p:txBody>
      </p:sp>
      <p:sp>
        <p:nvSpPr>
          <p:cNvPr id="51" name="Shape 49"/>
          <p:cNvSpPr/>
          <p:nvPr/>
        </p:nvSpPr>
        <p:spPr>
          <a:xfrm>
            <a:off x="7498080" y="4224528"/>
            <a:ext cx="411480" cy="0"/>
          </a:xfrm>
          <a:prstGeom prst="line">
            <a:avLst/>
          </a:prstGeom>
          <a:noFill/>
          <a:ln w="15875">
            <a:solidFill>
              <a:srgbClr val="5A6B70"/>
            </a:solidFill>
            <a:prstDash val="solid"/>
          </a:ln>
        </p:spPr>
        <p:txBody>
          <a:bodyPr/>
          <a:p/>
        </p:txBody>
      </p:sp>
      <p:sp>
        <p:nvSpPr>
          <p:cNvPr id="52" name="Shape 50"/>
          <p:cNvSpPr/>
          <p:nvPr/>
        </p:nvSpPr>
        <p:spPr>
          <a:xfrm flipV="1">
            <a:off x="7909560" y="1563624"/>
            <a:ext cx="0" cy="2660904"/>
          </a:xfrm>
          <a:prstGeom prst="line">
            <a:avLst/>
          </a:prstGeom>
          <a:noFill/>
          <a:ln w="15875">
            <a:solidFill>
              <a:srgbClr val="5A6B70"/>
            </a:solidFill>
            <a:prstDash val="solid"/>
          </a:ln>
        </p:spPr>
        <p:txBody>
          <a:bodyPr/>
          <a:p/>
        </p:txBody>
      </p:sp>
      <p:sp>
        <p:nvSpPr>
          <p:cNvPr id="53" name="Shape 51"/>
          <p:cNvSpPr/>
          <p:nvPr/>
        </p:nvSpPr>
        <p:spPr>
          <a:xfrm flipH="1">
            <a:off x="7498080" y="1563624"/>
            <a:ext cx="411480" cy="0"/>
          </a:xfrm>
          <a:prstGeom prst="line">
            <a:avLst/>
          </a:prstGeom>
          <a:noFill/>
          <a:ln w="15875">
            <a:solidFill>
              <a:srgbClr val="5A6B70"/>
            </a:solidFill>
            <a:prstDash val="solid"/>
            <a:tailEnd type="triangle"/>
          </a:ln>
        </p:spPr>
        <p:txBody>
          <a:bodyPr/>
          <a:p/>
        </p:txBody>
      </p:sp>
      <p:sp>
        <p:nvSpPr>
          <p:cNvPr id="54" name="Text 52"/>
          <p:cNvSpPr/>
          <p:nvPr/>
        </p:nvSpPr>
        <p:spPr>
          <a:xfrm>
            <a:off x="7973568" y="2743200"/>
            <a:ext cx="105156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最新値を集計</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コア：機器 → 履歴 → 点検結果</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a:solidFill>
                  <a:srgbClr val="7B8A8E"/>
                </a:solidFill>
                <a:latin typeface="Meiryo" pitchFamily="34" charset="0"/>
                <a:ea typeface="Meiryo" pitchFamily="34" charset="-122"/>
                <a:cs typeface="Meiryo" pitchFamily="34" charset="-120"/>
              </a:rPr>
              <a:t>トランザクションの中心</a:t>
            </a:r>
            <a:endParaRPr lang="en-US" sz="1400" dirty="0"/>
          </a:p>
        </p:txBody>
      </p:sp>
      <p:sp>
        <p:nvSpPr>
          <p:cNvPr id="4" name="Shape 2"/>
          <p:cNvSpPr/>
          <p:nvPr/>
        </p:nvSpPr>
        <p:spPr>
          <a:xfrm>
            <a:off x="411480" y="1188720"/>
            <a:ext cx="3566160" cy="5120640"/>
          </a:xfrm>
          <a:prstGeom prst="roundRect">
            <a:avLst>
              <a:gd name="adj" fmla="val 2051"/>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5" name="Text 3"/>
          <p:cNvSpPr/>
          <p:nvPr/>
        </p:nvSpPr>
        <p:spPr>
          <a:xfrm>
            <a:off x="557784" y="1261872"/>
            <a:ext cx="327355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機器マスタ</a:t>
            </a:r>
            <a:endParaRPr lang="en-US" sz="1800" dirty="0"/>
          </a:p>
        </p:txBody>
      </p:sp>
      <p:sp>
        <p:nvSpPr>
          <p:cNvPr id="6" name="Shape 4"/>
          <p:cNvSpPr/>
          <p:nvPr/>
        </p:nvSpPr>
        <p:spPr>
          <a:xfrm>
            <a:off x="539496" y="1682496"/>
            <a:ext cx="3310128" cy="0"/>
          </a:xfrm>
          <a:prstGeom prst="line">
            <a:avLst/>
          </a:prstGeom>
          <a:noFill/>
          <a:ln w="9525">
            <a:solidFill>
              <a:srgbClr val="0B7A85">
                <a:alpha val="45000"/>
              </a:srgbClr>
            </a:solidFill>
            <a:prstDash val="solid"/>
          </a:ln>
        </p:spPr>
        <p:txBody>
          <a:bodyPr/>
          <a:p/>
        </p:txBody>
      </p:sp>
      <p:sp>
        <p:nvSpPr>
          <p:cNvPr id="7" name="Text 5"/>
          <p:cNvSpPr/>
          <p:nvPr/>
        </p:nvSpPr>
        <p:spPr>
          <a:xfrm>
            <a:off x="576072" y="1755648"/>
            <a:ext cx="2578608" cy="4434840"/>
          </a:xfrm>
          <a:prstGeom prst="rect">
            <a:avLst/>
          </a:prstGeom>
          <a:noFill/>
          <a:ln/>
        </p:spPr>
        <p:txBody>
          <a:bodyPr wrap="square" lIns="0" tIns="0" rIns="0" bIns="0" rtlCol="0" anchor="t"/>
          <a:lstStyle/>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管理番号</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機器名</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機器区分ID ＋機器区分名</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メーカーID ＋メーカー名</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クラス分類</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型番</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製造番号</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資産番号</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使用開始日</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保守契約有無</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部署ID ＋部署名</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保管場所ID ＋保管場所名</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拠点</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ステータス</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ファイルBOXID</a:t>
            </a:r>
            <a:endParaRPr lang="en-US" sz="1500" dirty="0"/>
          </a:p>
          <a:p>
            <a:pPr marL="0" indent="0">
              <a:lnSpc>
                <a:spcPts val="216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8" name="Text 6"/>
          <p:cNvSpPr/>
          <p:nvPr/>
        </p:nvSpPr>
        <p:spPr>
          <a:xfrm>
            <a:off x="3154680" y="1773936"/>
            <a:ext cx="658368" cy="4434840"/>
          </a:xfrm>
          <a:prstGeom prst="rect">
            <a:avLst/>
          </a:prstGeom>
          <a:noFill/>
          <a:ln/>
        </p:spPr>
        <p:txBody>
          <a:bodyPr wrap="square" lIns="0" tIns="0" rIns="0" bIns="0" rtlCol="0" anchor="t"/>
          <a:lstStyle/>
          <a:p>
            <a:pPr marL="0" indent="0" algn="r">
              <a:lnSpc>
                <a:spcPts val="216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160"/>
              </a:lnSpc>
              <a:buNone/>
            </a:pPr>
            <a:endParaRPr lang="en-US" sz="1300" dirty="0"/>
          </a:p>
          <a:p>
            <a:pPr marL="0" indent="0" algn="r">
              <a:lnSpc>
                <a:spcPts val="216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16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16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endParaRPr lang="en-US" sz="1300" dirty="0"/>
          </a:p>
          <a:p>
            <a:pPr marL="0" indent="0" algn="r">
              <a:lnSpc>
                <a:spcPts val="2160"/>
              </a:lnSpc>
              <a:buNone/>
            </a:pPr>
            <a:endParaRPr lang="en-US" sz="1300" dirty="0"/>
          </a:p>
        </p:txBody>
      </p:sp>
      <p:sp>
        <p:nvSpPr>
          <p:cNvPr id="9" name="Shape 7"/>
          <p:cNvSpPr/>
          <p:nvPr/>
        </p:nvSpPr>
        <p:spPr>
          <a:xfrm>
            <a:off x="4343400" y="1188720"/>
            <a:ext cx="3840480" cy="4526280"/>
          </a:xfrm>
          <a:prstGeom prst="roundRect">
            <a:avLst>
              <a:gd name="adj" fmla="val 1905"/>
            </a:avLst>
          </a:prstGeom>
          <a:solidFill>
            <a:srgbClr val="FFFFFF"/>
          </a:solidFill>
          <a:ln w="19050">
            <a:solidFill>
              <a:srgbClr val="B26B12"/>
            </a:solidFill>
            <a:prstDash val="solid"/>
          </a:ln>
          <a:effectLst>
            <a:outerShdw blurRad="127000" dist="12700" dir="5400000" algn="bl" rotWithShape="0">
              <a:srgbClr val="8FA3A7">
                <a:alpha val="30000"/>
              </a:srgbClr>
            </a:outerShdw>
          </a:effectLst>
        </p:spPr>
        <p:txBody>
          <a:bodyPr/>
          <a:p/>
        </p:txBody>
      </p:sp>
      <p:sp>
        <p:nvSpPr>
          <p:cNvPr id="10" name="Text 8"/>
          <p:cNvSpPr/>
          <p:nvPr/>
        </p:nvSpPr>
        <p:spPr>
          <a:xfrm>
            <a:off x="4489704" y="1261872"/>
            <a:ext cx="3547872" cy="402336"/>
          </a:xfrm>
          <a:prstGeom prst="rect">
            <a:avLst/>
          </a:prstGeom>
          <a:noFill/>
          <a:ln/>
        </p:spPr>
        <p:txBody>
          <a:bodyPr wrap="square" lIns="0" tIns="0" rIns="0" bIns="0" rtlCol="0" anchor="ctr"/>
          <a:lstStyle/>
          <a:p>
            <a:pPr marL="0" indent="0">
              <a:buNone/>
            </a:pPr>
            <a:r>
              <a:rPr lang="en-US" sz="1800" b="1" dirty="0">
                <a:solidFill>
                  <a:srgbClr val="B26B12"/>
                </a:solidFill>
                <a:latin typeface="Meiryo" pitchFamily="34" charset="0"/>
                <a:ea typeface="Meiryo" pitchFamily="34" charset="-122"/>
                <a:cs typeface="Meiryo" pitchFamily="34" charset="-120"/>
              </a:rPr>
              <a:t>医療機器履歴</a:t>
            </a:r>
            <a:endParaRPr lang="en-US" sz="1800" dirty="0"/>
          </a:p>
        </p:txBody>
      </p:sp>
      <p:sp>
        <p:nvSpPr>
          <p:cNvPr id="11" name="Shape 9"/>
          <p:cNvSpPr/>
          <p:nvPr/>
        </p:nvSpPr>
        <p:spPr>
          <a:xfrm>
            <a:off x="4471416" y="1682496"/>
            <a:ext cx="3584448" cy="0"/>
          </a:xfrm>
          <a:prstGeom prst="line">
            <a:avLst/>
          </a:prstGeom>
          <a:noFill/>
          <a:ln w="9525">
            <a:solidFill>
              <a:srgbClr val="B26B12">
                <a:alpha val="45000"/>
              </a:srgbClr>
            </a:solidFill>
            <a:prstDash val="solid"/>
          </a:ln>
        </p:spPr>
        <p:txBody>
          <a:bodyPr/>
          <a:p/>
        </p:txBody>
      </p:sp>
      <p:sp>
        <p:nvSpPr>
          <p:cNvPr id="12" name="Text 10"/>
          <p:cNvSpPr/>
          <p:nvPr/>
        </p:nvSpPr>
        <p:spPr>
          <a:xfrm>
            <a:off x="4507992" y="1755648"/>
            <a:ext cx="2852928" cy="384048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履歴ID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管理番号</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アクションID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職員番号(実施者)</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部署ID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保管場所ID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点検表ID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登録日時</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実施日</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総合判定</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故障内容／対応内容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13" name="Text 11"/>
          <p:cNvSpPr/>
          <p:nvPr/>
        </p:nvSpPr>
        <p:spPr>
          <a:xfrm>
            <a:off x="7360920" y="1773936"/>
            <a:ext cx="658368" cy="3840480"/>
          </a:xfrm>
          <a:prstGeom prst="rect">
            <a:avLst/>
          </a:prstGeom>
          <a:noFill/>
          <a:ln/>
        </p:spPr>
        <p:txBody>
          <a:bodyPr wrap="square" lIns="0" tIns="0" rIns="0" bIns="0" rtlCol="0" anchor="t"/>
          <a:lstStyle/>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PK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AU</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14" name="Shape 12"/>
          <p:cNvSpPr/>
          <p:nvPr/>
        </p:nvSpPr>
        <p:spPr>
          <a:xfrm>
            <a:off x="8549640" y="1188720"/>
            <a:ext cx="3200400" cy="1607820"/>
          </a:xfrm>
          <a:prstGeom prst="roundRect">
            <a:avLst>
              <a:gd name="adj" fmla="val 4550"/>
            </a:avLst>
          </a:prstGeom>
          <a:solidFill>
            <a:srgbClr val="FFFFFF"/>
          </a:solidFill>
          <a:ln w="19050">
            <a:solidFill>
              <a:srgbClr val="B26B12"/>
            </a:solidFill>
            <a:prstDash val="solid"/>
          </a:ln>
          <a:effectLst>
            <a:outerShdw blurRad="127000" dist="12700" dir="5400000" algn="bl" rotWithShape="0">
              <a:srgbClr val="8FA3A7">
                <a:alpha val="30000"/>
              </a:srgbClr>
            </a:outerShdw>
          </a:effectLst>
        </p:spPr>
        <p:txBody>
          <a:bodyPr/>
          <a:p/>
        </p:txBody>
      </p:sp>
      <p:sp>
        <p:nvSpPr>
          <p:cNvPr id="15" name="Text 13"/>
          <p:cNvSpPr/>
          <p:nvPr/>
        </p:nvSpPr>
        <p:spPr>
          <a:xfrm>
            <a:off x="8695944" y="1261872"/>
            <a:ext cx="2907792" cy="402336"/>
          </a:xfrm>
          <a:prstGeom prst="rect">
            <a:avLst/>
          </a:prstGeom>
          <a:noFill/>
          <a:ln/>
        </p:spPr>
        <p:txBody>
          <a:bodyPr wrap="square" lIns="0" tIns="0" rIns="0" bIns="0" rtlCol="0" anchor="ctr"/>
          <a:lstStyle/>
          <a:p>
            <a:pPr marL="0" indent="0">
              <a:buNone/>
            </a:pPr>
            <a:r>
              <a:rPr lang="en-US" sz="1800" b="1" dirty="0">
                <a:solidFill>
                  <a:srgbClr val="B26B12"/>
                </a:solidFill>
                <a:latin typeface="Meiryo" pitchFamily="34" charset="0"/>
                <a:ea typeface="Meiryo" pitchFamily="34" charset="-122"/>
                <a:cs typeface="Meiryo" pitchFamily="34" charset="-120"/>
              </a:rPr>
              <a:t>点検結果</a:t>
            </a:r>
            <a:endParaRPr lang="en-US" sz="1800" dirty="0"/>
          </a:p>
        </p:txBody>
      </p:sp>
      <p:sp>
        <p:nvSpPr>
          <p:cNvPr id="16" name="Shape 14"/>
          <p:cNvSpPr/>
          <p:nvPr/>
        </p:nvSpPr>
        <p:spPr>
          <a:xfrm>
            <a:off x="8677656" y="1682496"/>
            <a:ext cx="2944368" cy="0"/>
          </a:xfrm>
          <a:prstGeom prst="line">
            <a:avLst/>
          </a:prstGeom>
          <a:noFill/>
          <a:ln w="9525">
            <a:solidFill>
              <a:srgbClr val="B26B12">
                <a:alpha val="45000"/>
              </a:srgbClr>
            </a:solidFill>
            <a:prstDash val="solid"/>
          </a:ln>
        </p:spPr>
        <p:txBody>
          <a:bodyPr/>
          <a:p/>
        </p:txBody>
      </p:sp>
      <p:sp>
        <p:nvSpPr>
          <p:cNvPr id="17" name="Text 15"/>
          <p:cNvSpPr/>
          <p:nvPr/>
        </p:nvSpPr>
        <p:spPr>
          <a:xfrm>
            <a:off x="8714232" y="1755648"/>
            <a:ext cx="2212848" cy="96774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履歴ID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点検項目ID</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入力値</a:t>
            </a:r>
            <a:endParaRPr lang="en-US" sz="1500" dirty="0"/>
          </a:p>
        </p:txBody>
      </p:sp>
      <p:sp>
        <p:nvSpPr>
          <p:cNvPr id="18" name="Text 16"/>
          <p:cNvSpPr/>
          <p:nvPr/>
        </p:nvSpPr>
        <p:spPr>
          <a:xfrm>
            <a:off x="10927080" y="1773936"/>
            <a:ext cx="658368" cy="967740"/>
          </a:xfrm>
          <a:prstGeom prst="rect">
            <a:avLst/>
          </a:prstGeom>
          <a:noFill/>
          <a:ln/>
        </p:spPr>
        <p:txBody>
          <a:bodyPr wrap="square" lIns="0" tIns="0" rIns="0" bIns="0" rtlCol="0" anchor="t"/>
          <a:lstStyle/>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PK,FK</a:t>
            </a:r>
            <a:endParaRPr lang="en-US" sz="1300" dirty="0"/>
          </a:p>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PK,FK</a:t>
            </a:r>
            <a:endParaRPr lang="en-US" sz="1300" dirty="0"/>
          </a:p>
          <a:p>
            <a:pPr marL="0" indent="0" algn="r">
              <a:lnSpc>
                <a:spcPts val="2300"/>
              </a:lnSpc>
              <a:buNone/>
            </a:pPr>
            <a:endParaRPr lang="en-US" sz="1300" dirty="0"/>
          </a:p>
        </p:txBody>
      </p:sp>
      <p:sp>
        <p:nvSpPr>
          <p:cNvPr id="19" name="Shape 17"/>
          <p:cNvSpPr/>
          <p:nvPr/>
        </p:nvSpPr>
        <p:spPr>
          <a:xfrm>
            <a:off x="3977640" y="1600200"/>
            <a:ext cx="365760" cy="0"/>
          </a:xfrm>
          <a:prstGeom prst="line">
            <a:avLst/>
          </a:prstGeom>
          <a:noFill/>
          <a:ln w="15875">
            <a:solidFill>
              <a:srgbClr val="5A6B70"/>
            </a:solidFill>
            <a:prstDash val="solid"/>
            <a:tailEnd type="triangle"/>
          </a:ln>
        </p:spPr>
        <p:txBody>
          <a:bodyPr/>
          <a:p/>
        </p:txBody>
      </p:sp>
      <p:sp>
        <p:nvSpPr>
          <p:cNvPr id="20" name="Text 18"/>
          <p:cNvSpPr/>
          <p:nvPr/>
        </p:nvSpPr>
        <p:spPr>
          <a:xfrm>
            <a:off x="3931920" y="1298448"/>
            <a:ext cx="45720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21" name="Shape 19"/>
          <p:cNvSpPr/>
          <p:nvPr/>
        </p:nvSpPr>
        <p:spPr>
          <a:xfrm>
            <a:off x="8183880" y="1600200"/>
            <a:ext cx="365760" cy="0"/>
          </a:xfrm>
          <a:prstGeom prst="line">
            <a:avLst/>
          </a:prstGeom>
          <a:noFill/>
          <a:ln w="15875">
            <a:solidFill>
              <a:srgbClr val="5A6B70"/>
            </a:solidFill>
            <a:prstDash val="solid"/>
            <a:tailEnd type="triangle"/>
          </a:ln>
        </p:spPr>
        <p:txBody>
          <a:bodyPr/>
          <a:p/>
        </p:txBody>
      </p:sp>
      <p:sp>
        <p:nvSpPr>
          <p:cNvPr id="22" name="Text 20"/>
          <p:cNvSpPr/>
          <p:nvPr/>
        </p:nvSpPr>
        <p:spPr>
          <a:xfrm>
            <a:off x="8138160" y="1298448"/>
            <a:ext cx="45720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23" name="Shape 21"/>
          <p:cNvSpPr/>
          <p:nvPr/>
        </p:nvSpPr>
        <p:spPr>
          <a:xfrm>
            <a:off x="8549640" y="3063240"/>
            <a:ext cx="3200400" cy="2743200"/>
          </a:xfrm>
          <a:prstGeom prst="roundRect">
            <a:avLst>
              <a:gd name="adj" fmla="val 2667"/>
            </a:avLst>
          </a:prstGeom>
          <a:solidFill>
            <a:srgbClr val="FFF6E9"/>
          </a:solidFill>
          <a:ln w="12700">
            <a:solidFill>
              <a:srgbClr val="E3C48F"/>
            </a:solidFill>
            <a:prstDash val="solid"/>
          </a:ln>
        </p:spPr>
        <p:txBody>
          <a:bodyPr/>
          <a:p/>
        </p:txBody>
      </p:sp>
      <p:sp>
        <p:nvSpPr>
          <p:cNvPr id="24" name="Text 22"/>
          <p:cNvSpPr/>
          <p:nvPr/>
        </p:nvSpPr>
        <p:spPr>
          <a:xfrm>
            <a:off x="8778240" y="3246120"/>
            <a:ext cx="2743200" cy="2377440"/>
          </a:xfrm>
          <a:prstGeom prst="rect">
            <a:avLst/>
          </a:prstGeom>
          <a:noFill/>
          <a:ln/>
        </p:spPr>
        <p:txBody>
          <a:bodyPr wrap="square" lIns="0" tIns="0" rIns="0" bIns="0" rtlCol="0" anchor="t"/>
          <a:lstStyle/>
          <a:p>
            <a:pPr marL="0" indent="0">
              <a:lnSpc>
                <a:spcPts val="2100"/>
              </a:lnSpc>
              <a:buNone/>
            </a:pPr>
            <a:r>
              <a:rPr lang="en-US" sz="1600" b="1" dirty="0">
                <a:solidFill>
                  <a:srgbClr val="B26B12"/>
                </a:solidFill>
                <a:latin typeface="Meiryo" pitchFamily="34" charset="0"/>
                <a:ea typeface="Meiryo" pitchFamily="34" charset="-122"/>
                <a:cs typeface="Meiryo" pitchFamily="34" charset="-120"/>
              </a:rPr>
              <a:t>点検結果の主キー</a:t>
            </a:r>
            <a:endParaRPr lang="en-US" sz="1600" dirty="0"/>
          </a:p>
          <a:p>
            <a:pPr marL="0" indent="0">
              <a:lnSpc>
                <a:spcPts val="2100"/>
              </a:lnSpc>
              <a:buNone/>
            </a:pPr>
            <a:r>
              <a:rPr lang="en-US" sz="1400" dirty="0">
                <a:solidFill>
                  <a:srgbClr val="10333A"/>
                </a:solidFill>
                <a:latin typeface="Meiryo" pitchFamily="34" charset="0"/>
                <a:ea typeface="Meiryo" pitchFamily="34" charset="-122"/>
                <a:cs typeface="Meiryo" pitchFamily="34" charset="-120"/>
              </a:rPr>
              <a:t>履歴ID × 点検項目ID の複合キー。1回の点検（履歴1件）に対して、点検表の項目数ぶん行が並ぶ縦持ち構造。</a:t>
            </a:r>
            <a:endParaRPr lang="en-US" sz="1600" dirty="0"/>
          </a:p>
          <a:p>
            <a:pPr marL="0" indent="0">
              <a:lnSpc>
                <a:spcPts val="2100"/>
              </a:lnSpc>
              <a:buNone/>
            </a:pPr>
            <a:endParaRPr lang="en-US" sz="1600" dirty="0"/>
          </a:p>
          <a:p>
            <a:pPr marL="0" indent="0">
              <a:lnSpc>
                <a:spcPts val="2100"/>
              </a:lnSpc>
              <a:buNone/>
            </a:pPr>
            <a:r>
              <a:rPr lang="en-US" sz="1400" dirty="0">
                <a:solidFill>
                  <a:srgbClr val="10333A"/>
                </a:solidFill>
                <a:latin typeface="Meiryo" pitchFamily="34" charset="0"/>
                <a:ea typeface="Meiryo" pitchFamily="34" charset="-122"/>
                <a:cs typeface="Meiryo" pitchFamily="34" charset="-120"/>
              </a:rPr>
              <a:t>実施者・実施日・総合判定は履歴側に持つので、ここは値のみで済む。</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点検の定義まわり</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a:solidFill>
                  <a:srgbClr val="7B8A8E"/>
                </a:solidFill>
                <a:latin typeface="Meiryo" pitchFamily="34" charset="0"/>
                <a:ea typeface="Meiryo" pitchFamily="34" charset="-122"/>
                <a:cs typeface="Meiryo" pitchFamily="34" charset="-120"/>
              </a:rPr>
              <a:t>機器区分 → 点検表 → 点検項目</a:t>
            </a:r>
            <a:endParaRPr lang="en-US" sz="1400" dirty="0"/>
          </a:p>
        </p:txBody>
      </p:sp>
      <p:sp>
        <p:nvSpPr>
          <p:cNvPr id="4" name="Shape 2"/>
          <p:cNvSpPr/>
          <p:nvPr/>
        </p:nvSpPr>
        <p:spPr>
          <a:xfrm>
            <a:off x="457200" y="1234440"/>
            <a:ext cx="3474720" cy="3652520"/>
          </a:xfrm>
          <a:prstGeom prst="roundRect">
            <a:avLst>
              <a:gd name="adj" fmla="val 210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5" name="Text 3"/>
          <p:cNvSpPr/>
          <p:nvPr/>
        </p:nvSpPr>
        <p:spPr>
          <a:xfrm>
            <a:off x="6035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機器区分マスタ</a:t>
            </a:r>
            <a:endParaRPr lang="en-US" sz="1800" dirty="0"/>
          </a:p>
        </p:txBody>
      </p:sp>
      <p:sp>
        <p:nvSpPr>
          <p:cNvPr id="6" name="Shape 4"/>
          <p:cNvSpPr/>
          <p:nvPr/>
        </p:nvSpPr>
        <p:spPr>
          <a:xfrm>
            <a:off x="585216" y="1728216"/>
            <a:ext cx="3218688" cy="0"/>
          </a:xfrm>
          <a:prstGeom prst="line">
            <a:avLst/>
          </a:prstGeom>
          <a:noFill/>
          <a:ln w="9525">
            <a:solidFill>
              <a:srgbClr val="0B7A85">
                <a:alpha val="45000"/>
              </a:srgbClr>
            </a:solidFill>
            <a:prstDash val="solid"/>
          </a:ln>
        </p:spPr>
        <p:txBody>
          <a:bodyPr/>
          <a:p/>
        </p:txBody>
      </p:sp>
      <p:sp>
        <p:nvSpPr>
          <p:cNvPr id="7" name="Text 5"/>
          <p:cNvSpPr/>
          <p:nvPr/>
        </p:nvSpPr>
        <p:spPr>
          <a:xfrm>
            <a:off x="621792" y="1801368"/>
            <a:ext cx="2487168" cy="301244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機器区分ID</a:t>
            </a:r>
            <a:endParaRPr lang="en-US" sz="1500" dirty="0"/>
          </a:p>
          <a:p>
            <a:pPr marL="0" indent="0">
              <a:lnSpc>
                <a:spcPts val="2300"/>
              </a:lnSpc>
              <a:buNone/>
            </a:pPr>
            <a:r>
              <a:rPr lang="en-US" sz="1500" dirty="0" err="1">
                <a:solidFill>
                  <a:srgbClr val="10333A"/>
                </a:solidFill>
                <a:latin typeface="Meiryo" pitchFamily="34" charset="0"/>
                <a:ea typeface="Meiryo" pitchFamily="34" charset="-122"/>
                <a:cs typeface="Meiryo" pitchFamily="34" charset="-120"/>
              </a:rPr>
              <a:t>機器区分名</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特定保守管理医療機器</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点検表ID ＋点検表名</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部署点検周期(月)</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業者点検周期(月)</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表示順</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備考</a:t>
            </a:r>
            <a:endParaRPr lang="en-US" sz="1500" dirty="0"/>
          </a:p>
        </p:txBody>
      </p:sp>
      <p:sp>
        <p:nvSpPr>
          <p:cNvPr id="8" name="Text 6"/>
          <p:cNvSpPr/>
          <p:nvPr/>
        </p:nvSpPr>
        <p:spPr>
          <a:xfrm>
            <a:off x="3108960" y="1819656"/>
            <a:ext cx="658368" cy="301244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9" name="Shape 7"/>
          <p:cNvSpPr/>
          <p:nvPr/>
        </p:nvSpPr>
        <p:spPr>
          <a:xfrm>
            <a:off x="4343400" y="1234440"/>
            <a:ext cx="3474720" cy="2788920"/>
          </a:xfrm>
          <a:prstGeom prst="roundRect">
            <a:avLst>
              <a:gd name="adj" fmla="val 294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0" name="Text 8"/>
          <p:cNvSpPr/>
          <p:nvPr/>
        </p:nvSpPr>
        <p:spPr>
          <a:xfrm>
            <a:off x="44897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点検表マスタ</a:t>
            </a:r>
            <a:endParaRPr lang="en-US" sz="1800" dirty="0"/>
          </a:p>
        </p:txBody>
      </p:sp>
      <p:sp>
        <p:nvSpPr>
          <p:cNvPr id="11" name="Shape 9"/>
          <p:cNvSpPr/>
          <p:nvPr/>
        </p:nvSpPr>
        <p:spPr>
          <a:xfrm>
            <a:off x="4471416" y="1728216"/>
            <a:ext cx="3218688" cy="0"/>
          </a:xfrm>
          <a:prstGeom prst="line">
            <a:avLst/>
          </a:prstGeom>
          <a:noFill/>
          <a:ln w="9525">
            <a:solidFill>
              <a:srgbClr val="0B7A85">
                <a:alpha val="45000"/>
              </a:srgbClr>
            </a:solidFill>
            <a:prstDash val="solid"/>
          </a:ln>
        </p:spPr>
        <p:txBody>
          <a:bodyPr/>
          <a:p/>
        </p:txBody>
      </p:sp>
      <p:sp>
        <p:nvSpPr>
          <p:cNvPr id="12" name="Text 10"/>
          <p:cNvSpPr/>
          <p:nvPr/>
        </p:nvSpPr>
        <p:spPr>
          <a:xfrm>
            <a:off x="4507992" y="1801368"/>
            <a:ext cx="2487168" cy="210312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点検表ID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点検表名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機器区分ID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点検区分</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表示順</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13" name="Text 11"/>
          <p:cNvSpPr/>
          <p:nvPr/>
        </p:nvSpPr>
        <p:spPr>
          <a:xfrm>
            <a:off x="6995160" y="1819656"/>
            <a:ext cx="658368" cy="210312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14" name="Shape 12"/>
          <p:cNvSpPr/>
          <p:nvPr/>
        </p:nvSpPr>
        <p:spPr>
          <a:xfrm>
            <a:off x="8229600" y="1234440"/>
            <a:ext cx="3474720" cy="2788920"/>
          </a:xfrm>
          <a:prstGeom prst="roundRect">
            <a:avLst>
              <a:gd name="adj" fmla="val 294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5" name="Text 13"/>
          <p:cNvSpPr/>
          <p:nvPr/>
        </p:nvSpPr>
        <p:spPr>
          <a:xfrm>
            <a:off x="83759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点検項目マスタ</a:t>
            </a:r>
            <a:endParaRPr lang="en-US" sz="1800" dirty="0"/>
          </a:p>
        </p:txBody>
      </p:sp>
      <p:sp>
        <p:nvSpPr>
          <p:cNvPr id="16" name="Shape 14"/>
          <p:cNvSpPr/>
          <p:nvPr/>
        </p:nvSpPr>
        <p:spPr>
          <a:xfrm>
            <a:off x="8357616" y="1728216"/>
            <a:ext cx="3218688" cy="0"/>
          </a:xfrm>
          <a:prstGeom prst="line">
            <a:avLst/>
          </a:prstGeom>
          <a:noFill/>
          <a:ln w="9525">
            <a:solidFill>
              <a:srgbClr val="0B7A85">
                <a:alpha val="45000"/>
              </a:srgbClr>
            </a:solidFill>
            <a:prstDash val="solid"/>
          </a:ln>
        </p:spPr>
        <p:txBody>
          <a:bodyPr/>
          <a:p/>
        </p:txBody>
      </p:sp>
      <p:sp>
        <p:nvSpPr>
          <p:cNvPr id="17" name="Text 15"/>
          <p:cNvSpPr/>
          <p:nvPr/>
        </p:nvSpPr>
        <p:spPr>
          <a:xfrm>
            <a:off x="8394192" y="1801368"/>
            <a:ext cx="2487168" cy="210312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点検項目ID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点検表ID ＋点検表名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表示順</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項目名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入力形式</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必須</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18" name="Text 16"/>
          <p:cNvSpPr/>
          <p:nvPr/>
        </p:nvSpPr>
        <p:spPr>
          <a:xfrm>
            <a:off x="10881360" y="1819656"/>
            <a:ext cx="658368" cy="210312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19" name="Shape 17"/>
          <p:cNvSpPr/>
          <p:nvPr/>
        </p:nvSpPr>
        <p:spPr>
          <a:xfrm>
            <a:off x="3931920" y="1691640"/>
            <a:ext cx="411480" cy="0"/>
          </a:xfrm>
          <a:prstGeom prst="line">
            <a:avLst/>
          </a:prstGeom>
          <a:noFill/>
          <a:ln w="15875">
            <a:solidFill>
              <a:srgbClr val="5A6B70"/>
            </a:solidFill>
            <a:prstDash val="solid"/>
            <a:tailEnd type="triangle"/>
          </a:ln>
        </p:spPr>
        <p:txBody>
          <a:bodyPr/>
          <a:p/>
        </p:txBody>
      </p:sp>
      <p:sp>
        <p:nvSpPr>
          <p:cNvPr id="20" name="Text 18"/>
          <p:cNvSpPr/>
          <p:nvPr/>
        </p:nvSpPr>
        <p:spPr>
          <a:xfrm>
            <a:off x="3886200" y="1371600"/>
            <a:ext cx="45720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21" name="Shape 19"/>
          <p:cNvSpPr/>
          <p:nvPr/>
        </p:nvSpPr>
        <p:spPr>
          <a:xfrm>
            <a:off x="7818120" y="1691640"/>
            <a:ext cx="411480" cy="0"/>
          </a:xfrm>
          <a:prstGeom prst="line">
            <a:avLst/>
          </a:prstGeom>
          <a:noFill/>
          <a:ln w="15875">
            <a:solidFill>
              <a:srgbClr val="5A6B70"/>
            </a:solidFill>
            <a:prstDash val="solid"/>
            <a:tailEnd type="triangle"/>
          </a:ln>
        </p:spPr>
        <p:txBody>
          <a:bodyPr/>
          <a:p/>
        </p:txBody>
      </p:sp>
      <p:sp>
        <p:nvSpPr>
          <p:cNvPr id="22" name="Text 20"/>
          <p:cNvSpPr/>
          <p:nvPr/>
        </p:nvSpPr>
        <p:spPr>
          <a:xfrm>
            <a:off x="7772400" y="1371600"/>
            <a:ext cx="45720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23" name="Shape 21"/>
          <p:cNvSpPr/>
          <p:nvPr/>
        </p:nvSpPr>
        <p:spPr>
          <a:xfrm>
            <a:off x="4343400" y="4160520"/>
            <a:ext cx="7360920" cy="2011680"/>
          </a:xfrm>
          <a:prstGeom prst="roundRect">
            <a:avLst>
              <a:gd name="adj" fmla="val 3636"/>
            </a:avLst>
          </a:prstGeom>
          <a:solidFill>
            <a:srgbClr val="FFFFFF"/>
          </a:solidFill>
          <a:ln w="12700">
            <a:solidFill>
              <a:srgbClr val="C9D6D8"/>
            </a:solidFill>
            <a:prstDash val="solid"/>
          </a:ln>
          <a:effectLst>
            <a:outerShdw blurRad="127000" dist="12700" dir="5400000" algn="bl" rotWithShape="0">
              <a:srgbClr val="8FA3A7">
                <a:alpha val="30000"/>
              </a:srgbClr>
            </a:outerShdw>
          </a:effectLst>
        </p:spPr>
        <p:txBody>
          <a:bodyPr/>
          <a:p/>
        </p:txBody>
      </p:sp>
      <p:sp>
        <p:nvSpPr>
          <p:cNvPr id="24" name="Text 22"/>
          <p:cNvSpPr/>
          <p:nvPr/>
        </p:nvSpPr>
        <p:spPr>
          <a:xfrm>
            <a:off x="4572000" y="4343400"/>
            <a:ext cx="6903720" cy="1691640"/>
          </a:xfrm>
          <a:prstGeom prst="rect">
            <a:avLst/>
          </a:prstGeom>
          <a:noFill/>
          <a:ln/>
        </p:spPr>
        <p:txBody>
          <a:bodyPr wrap="square" lIns="0" tIns="0" rIns="0" bIns="0" rtlCol="0" anchor="t"/>
          <a:lstStyle/>
          <a:p>
            <a:pPr marL="0" indent="0">
              <a:lnSpc>
                <a:spcPts val="2200"/>
              </a:lnSpc>
              <a:buNone/>
            </a:pPr>
            <a:r>
              <a:rPr lang="en-US" sz="1700" b="1" dirty="0">
                <a:solidFill>
                  <a:srgbClr val="10333A"/>
                </a:solidFill>
                <a:latin typeface="Meiryo" pitchFamily="34" charset="0"/>
                <a:ea typeface="Meiryo" pitchFamily="34" charset="-122"/>
                <a:cs typeface="Meiryo" pitchFamily="34" charset="-120"/>
              </a:rPr>
              <a:t>点検表の引き方</a:t>
            </a:r>
            <a:endParaRPr lang="en-US" sz="1700" dirty="0"/>
          </a:p>
          <a:p>
            <a:pPr marL="0" indent="0">
              <a:lnSpc>
                <a:spcPts val="2200"/>
              </a:lnSpc>
              <a:buNone/>
            </a:pPr>
            <a:r>
              <a:rPr lang="en-US" sz="1500" dirty="0">
                <a:solidFill>
                  <a:srgbClr val="10333A"/>
                </a:solidFill>
                <a:latin typeface="Meiryo" pitchFamily="34" charset="0"/>
                <a:ea typeface="Meiryo" pitchFamily="34" charset="-122"/>
                <a:cs typeface="Meiryo" pitchFamily="34" charset="-120"/>
              </a:rPr>
              <a:t>点検表は 機器 → 機器区分 → 点検表 の一本道で決まる。区分を変えれば対象機器の点検表が一斉に切り替わる。点検表マスタの機器区分IDは区分側に合わせて自動で入る。</a:t>
            </a:r>
            <a:endParaRPr lang="en-US" sz="1700" dirty="0"/>
          </a:p>
          <a:p>
            <a:pPr marL="0" indent="0">
              <a:lnSpc>
                <a:spcPts val="2200"/>
              </a:lnSpc>
              <a:buNone/>
            </a:pPr>
            <a:r>
              <a:rPr lang="en-US" sz="1500" dirty="0">
                <a:solidFill>
                  <a:srgbClr val="10333A"/>
                </a:solidFill>
                <a:latin typeface="Meiryo" pitchFamily="34" charset="0"/>
                <a:ea typeface="Meiryo" pitchFamily="34" charset="-122"/>
                <a:cs typeface="Meiryo" pitchFamily="34" charset="-120"/>
              </a:rPr>
              <a:t>一方、医療機器履歴の点検表IDは残す。実施した時点でどの点検表を使ったかのスナップショットで、後から点検表を改訂しても過去の記録が壊れない。</a:t>
            </a:r>
            <a:endParaRPr lang="en-US" sz="1700" dirty="0"/>
          </a:p>
        </p:txBody>
      </p:sp>
      <p:sp>
        <p:nvSpPr>
          <p:cNvPr id="25" name="Shape 23"/>
          <p:cNvSpPr/>
          <p:nvPr/>
        </p:nvSpPr>
        <p:spPr>
          <a:xfrm>
            <a:off x="457200" y="5074920"/>
            <a:ext cx="3474720" cy="1325880"/>
          </a:xfrm>
          <a:prstGeom prst="roundRect">
            <a:avLst>
              <a:gd name="adj" fmla="val 5517"/>
            </a:avLst>
          </a:prstGeom>
          <a:solidFill>
            <a:srgbClr val="E9F4F5"/>
          </a:solidFill>
          <a:ln w="12700">
            <a:solidFill>
              <a:srgbClr val="9EC7CC"/>
            </a:solidFill>
            <a:prstDash val="solid"/>
          </a:ln>
        </p:spPr>
        <p:txBody>
          <a:bodyPr/>
          <a:p/>
        </p:txBody>
      </p:sp>
      <p:sp>
        <p:nvSpPr>
          <p:cNvPr id="26" name="Text 24"/>
          <p:cNvSpPr/>
          <p:nvPr/>
        </p:nvSpPr>
        <p:spPr>
          <a:xfrm>
            <a:off x="685800" y="5230368"/>
            <a:ext cx="3017520" cy="1051560"/>
          </a:xfrm>
          <a:prstGeom prst="rect">
            <a:avLst/>
          </a:prstGeom>
          <a:noFill/>
          <a:ln/>
        </p:spPr>
        <p:txBody>
          <a:bodyPr wrap="square" lIns="0" tIns="0" rIns="0" bIns="0" rtlCol="0" anchor="t"/>
          <a:lstStyle/>
          <a:p>
            <a:pPr marL="0" indent="0">
              <a:lnSpc>
                <a:spcPts val="2100"/>
              </a:lnSpc>
              <a:buNone/>
            </a:pPr>
            <a:r>
              <a:rPr lang="en-US" sz="1600" b="1" dirty="0">
                <a:solidFill>
                  <a:srgbClr val="0B7A85"/>
                </a:solidFill>
                <a:latin typeface="Meiryo" pitchFamily="34" charset="0"/>
                <a:ea typeface="Meiryo" pitchFamily="34" charset="-122"/>
                <a:cs typeface="Meiryo" pitchFamily="34" charset="-120"/>
              </a:rPr>
              <a:t>点検周期</a:t>
            </a:r>
            <a:endParaRPr lang="en-US" sz="1600" dirty="0"/>
          </a:p>
          <a:p>
            <a:pPr marL="0" indent="0">
              <a:lnSpc>
                <a:spcPts val="2100"/>
              </a:lnSpc>
              <a:buNone/>
            </a:pPr>
            <a:r>
              <a:rPr lang="en-US" sz="1400" dirty="0">
                <a:solidFill>
                  <a:srgbClr val="10333A"/>
                </a:solidFill>
                <a:latin typeface="Meiryo" pitchFamily="34" charset="0"/>
                <a:ea typeface="Meiryo" pitchFamily="34" charset="-122"/>
                <a:cs typeface="Meiryo" pitchFamily="34" charset="-120"/>
              </a:rPr>
              <a:t>部署点検・業者点検それぞれの周期(月)を区分に持ち、次回予定日の計算根拠になる。</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組織・人・場所のマスタ</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a:solidFill>
                  <a:srgbClr val="7B8A8E"/>
                </a:solidFill>
                <a:latin typeface="Meiryo" pitchFamily="34" charset="0"/>
                <a:ea typeface="Meiryo" pitchFamily="34" charset="-122"/>
                <a:cs typeface="Meiryo" pitchFamily="34" charset="-120"/>
              </a:rPr>
              <a:t>部署を軸に紐づく</a:t>
            </a:r>
            <a:endParaRPr lang="en-US" sz="1400" dirty="0"/>
          </a:p>
        </p:txBody>
      </p:sp>
      <p:sp>
        <p:nvSpPr>
          <p:cNvPr id="4" name="Shape 2"/>
          <p:cNvSpPr/>
          <p:nvPr/>
        </p:nvSpPr>
        <p:spPr>
          <a:xfrm>
            <a:off x="457200" y="1234440"/>
            <a:ext cx="3474720" cy="2776220"/>
          </a:xfrm>
          <a:prstGeom prst="roundRect">
            <a:avLst>
              <a:gd name="adj" fmla="val 263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5" name="Text 3"/>
          <p:cNvSpPr/>
          <p:nvPr/>
        </p:nvSpPr>
        <p:spPr>
          <a:xfrm>
            <a:off x="6035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部署マスタ</a:t>
            </a:r>
            <a:endParaRPr lang="en-US" sz="1800" dirty="0"/>
          </a:p>
        </p:txBody>
      </p:sp>
      <p:sp>
        <p:nvSpPr>
          <p:cNvPr id="6" name="Shape 4"/>
          <p:cNvSpPr/>
          <p:nvPr/>
        </p:nvSpPr>
        <p:spPr>
          <a:xfrm>
            <a:off x="585216" y="1728216"/>
            <a:ext cx="3218688" cy="0"/>
          </a:xfrm>
          <a:prstGeom prst="line">
            <a:avLst/>
          </a:prstGeom>
          <a:noFill/>
          <a:ln w="9525">
            <a:solidFill>
              <a:srgbClr val="0B7A85">
                <a:alpha val="45000"/>
              </a:srgbClr>
            </a:solidFill>
            <a:prstDash val="solid"/>
          </a:ln>
        </p:spPr>
        <p:txBody>
          <a:bodyPr/>
          <a:p/>
        </p:txBody>
      </p:sp>
      <p:sp>
        <p:nvSpPr>
          <p:cNvPr id="7" name="Text 5"/>
          <p:cNvSpPr/>
          <p:nvPr/>
        </p:nvSpPr>
        <p:spPr>
          <a:xfrm>
            <a:off x="621792" y="1801368"/>
            <a:ext cx="2487168" cy="213614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部署ID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部署名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表示順</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8" name="Text 6"/>
          <p:cNvSpPr/>
          <p:nvPr/>
        </p:nvSpPr>
        <p:spPr>
          <a:xfrm>
            <a:off x="3108960" y="1819656"/>
            <a:ext cx="658368" cy="213614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9" name="Shape 7"/>
          <p:cNvSpPr/>
          <p:nvPr/>
        </p:nvSpPr>
        <p:spPr>
          <a:xfrm>
            <a:off x="4343400" y="1234440"/>
            <a:ext cx="3474720" cy="2788920"/>
          </a:xfrm>
          <a:prstGeom prst="roundRect">
            <a:avLst>
              <a:gd name="adj" fmla="val 294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0" name="Text 8"/>
          <p:cNvSpPr/>
          <p:nvPr/>
        </p:nvSpPr>
        <p:spPr>
          <a:xfrm>
            <a:off x="44897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保管場所マスタ</a:t>
            </a:r>
            <a:endParaRPr lang="en-US" sz="1800" dirty="0"/>
          </a:p>
        </p:txBody>
      </p:sp>
      <p:sp>
        <p:nvSpPr>
          <p:cNvPr id="11" name="Shape 9"/>
          <p:cNvSpPr/>
          <p:nvPr/>
        </p:nvSpPr>
        <p:spPr>
          <a:xfrm>
            <a:off x="4471416" y="1728216"/>
            <a:ext cx="3218688" cy="0"/>
          </a:xfrm>
          <a:prstGeom prst="line">
            <a:avLst/>
          </a:prstGeom>
          <a:noFill/>
          <a:ln w="9525">
            <a:solidFill>
              <a:srgbClr val="0B7A85">
                <a:alpha val="45000"/>
              </a:srgbClr>
            </a:solidFill>
            <a:prstDash val="solid"/>
          </a:ln>
        </p:spPr>
        <p:txBody>
          <a:bodyPr/>
          <a:p/>
        </p:txBody>
      </p:sp>
      <p:sp>
        <p:nvSpPr>
          <p:cNvPr id="12" name="Text 10"/>
          <p:cNvSpPr/>
          <p:nvPr/>
        </p:nvSpPr>
        <p:spPr>
          <a:xfrm>
            <a:off x="4507992" y="1801368"/>
            <a:ext cx="2487168" cy="210312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保管場所ID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保管場所名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部署ID ＋部署名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拠点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表示順</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13" name="Text 11"/>
          <p:cNvSpPr/>
          <p:nvPr/>
        </p:nvSpPr>
        <p:spPr>
          <a:xfrm>
            <a:off x="6995160" y="1819656"/>
            <a:ext cx="658368" cy="210312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14" name="Shape 12"/>
          <p:cNvSpPr/>
          <p:nvPr/>
        </p:nvSpPr>
        <p:spPr>
          <a:xfrm>
            <a:off x="8229600" y="1234440"/>
            <a:ext cx="3474720" cy="2514600"/>
          </a:xfrm>
          <a:prstGeom prst="roundRect">
            <a:avLst>
              <a:gd name="adj" fmla="val 263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5" name="Text 13"/>
          <p:cNvSpPr/>
          <p:nvPr/>
        </p:nvSpPr>
        <p:spPr>
          <a:xfrm>
            <a:off x="83759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ユーザーマスタ</a:t>
            </a:r>
            <a:endParaRPr lang="en-US" sz="1800" dirty="0"/>
          </a:p>
        </p:txBody>
      </p:sp>
      <p:sp>
        <p:nvSpPr>
          <p:cNvPr id="16" name="Shape 14"/>
          <p:cNvSpPr/>
          <p:nvPr/>
        </p:nvSpPr>
        <p:spPr>
          <a:xfrm>
            <a:off x="8357616" y="1728216"/>
            <a:ext cx="3218688" cy="0"/>
          </a:xfrm>
          <a:prstGeom prst="line">
            <a:avLst/>
          </a:prstGeom>
          <a:noFill/>
          <a:ln w="9525">
            <a:solidFill>
              <a:srgbClr val="0B7A85">
                <a:alpha val="45000"/>
              </a:srgbClr>
            </a:solidFill>
            <a:prstDash val="solid"/>
          </a:ln>
        </p:spPr>
        <p:txBody>
          <a:bodyPr/>
          <a:p/>
        </p:txBody>
      </p:sp>
      <p:sp>
        <p:nvSpPr>
          <p:cNvPr id="17" name="Text 15"/>
          <p:cNvSpPr/>
          <p:nvPr/>
        </p:nvSpPr>
        <p:spPr>
          <a:xfrm>
            <a:off x="8394192" y="1801368"/>
            <a:ext cx="2487168" cy="182880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職員番号</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ユーザー名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部署ID ＋部署名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18" name="Text 16"/>
          <p:cNvSpPr/>
          <p:nvPr/>
        </p:nvSpPr>
        <p:spPr>
          <a:xfrm>
            <a:off x="10881360" y="1819656"/>
            <a:ext cx="658368" cy="182880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FK</a:t>
            </a: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19" name="Shape 17"/>
          <p:cNvSpPr/>
          <p:nvPr/>
        </p:nvSpPr>
        <p:spPr>
          <a:xfrm>
            <a:off x="3931920" y="1691640"/>
            <a:ext cx="411480" cy="0"/>
          </a:xfrm>
          <a:prstGeom prst="line">
            <a:avLst/>
          </a:prstGeom>
          <a:noFill/>
          <a:ln w="15875">
            <a:solidFill>
              <a:srgbClr val="5A6B70"/>
            </a:solidFill>
            <a:prstDash val="solid"/>
            <a:tailEnd type="triangle"/>
          </a:ln>
        </p:spPr>
        <p:txBody>
          <a:bodyPr/>
          <a:p/>
        </p:txBody>
      </p:sp>
      <p:sp>
        <p:nvSpPr>
          <p:cNvPr id="20" name="Text 18"/>
          <p:cNvSpPr/>
          <p:nvPr/>
        </p:nvSpPr>
        <p:spPr>
          <a:xfrm>
            <a:off x="3886200" y="1371600"/>
            <a:ext cx="457200" cy="237744"/>
          </a:xfrm>
          <a:prstGeom prst="rect">
            <a:avLst/>
          </a:prstGeom>
          <a:noFill/>
          <a:ln/>
        </p:spPr>
        <p:txBody>
          <a:bodyPr wrap="square" lIns="0" tIns="0" rIns="0" bIns="0" rtlCol="0" anchor="ctr"/>
          <a:lstStyle/>
          <a:p>
            <a:pPr marL="0" indent="0" algn="ctr">
              <a:buNone/>
            </a:pPr>
            <a:r>
              <a:rPr lang="en-US" sz="1200" dirty="0">
                <a:solidFill>
                  <a:srgbClr val="7B8A8E"/>
                </a:solidFill>
                <a:latin typeface="Meiryo" pitchFamily="34" charset="0"/>
                <a:ea typeface="Meiryo" pitchFamily="34" charset="-122"/>
                <a:cs typeface="Meiryo" pitchFamily="34" charset="-120"/>
              </a:rPr>
              <a:t>1 : N</a:t>
            </a:r>
            <a:endParaRPr lang="en-US" sz="1200" dirty="0"/>
          </a:p>
        </p:txBody>
      </p:sp>
      <p:sp>
        <p:nvSpPr>
          <p:cNvPr id="21" name="Shape 19"/>
          <p:cNvSpPr/>
          <p:nvPr/>
        </p:nvSpPr>
        <p:spPr>
          <a:xfrm>
            <a:off x="7818120" y="1691640"/>
            <a:ext cx="411480" cy="0"/>
          </a:xfrm>
          <a:prstGeom prst="line">
            <a:avLst/>
          </a:prstGeom>
          <a:noFill/>
          <a:ln w="15875">
            <a:solidFill>
              <a:srgbClr val="5A6B70"/>
            </a:solidFill>
            <a:prstDash val="solid"/>
            <a:tailEnd type="triangle"/>
          </a:ln>
        </p:spPr>
        <p:txBody>
          <a:bodyPr/>
          <a:p/>
        </p:txBody>
      </p:sp>
      <p:sp>
        <p:nvSpPr>
          <p:cNvPr id="22" name="Shape 20"/>
          <p:cNvSpPr/>
          <p:nvPr/>
        </p:nvSpPr>
        <p:spPr>
          <a:xfrm>
            <a:off x="457200" y="4434840"/>
            <a:ext cx="11247120" cy="1645920"/>
          </a:xfrm>
          <a:prstGeom prst="roundRect">
            <a:avLst>
              <a:gd name="adj" fmla="val 4444"/>
            </a:avLst>
          </a:prstGeom>
          <a:solidFill>
            <a:srgbClr val="FFFFFF"/>
          </a:solidFill>
          <a:ln w="12700">
            <a:solidFill>
              <a:srgbClr val="C9D6D8"/>
            </a:solidFill>
            <a:prstDash val="solid"/>
          </a:ln>
          <a:effectLst>
            <a:outerShdw blurRad="127000" dist="12700" dir="5400000" algn="bl" rotWithShape="0">
              <a:srgbClr val="8FA3A7">
                <a:alpha val="30000"/>
              </a:srgbClr>
            </a:outerShdw>
          </a:effectLst>
        </p:spPr>
        <p:txBody>
          <a:bodyPr/>
          <a:p/>
        </p:txBody>
      </p:sp>
      <p:sp>
        <p:nvSpPr>
          <p:cNvPr id="23" name="Text 21"/>
          <p:cNvSpPr/>
          <p:nvPr/>
        </p:nvSpPr>
        <p:spPr>
          <a:xfrm>
            <a:off x="685800" y="4617720"/>
            <a:ext cx="10789920" cy="1325880"/>
          </a:xfrm>
          <a:prstGeom prst="rect">
            <a:avLst/>
          </a:prstGeom>
          <a:noFill/>
          <a:ln/>
        </p:spPr>
        <p:txBody>
          <a:bodyPr wrap="square" lIns="0" tIns="0" rIns="0" bIns="0" rtlCol="0" anchor="t"/>
          <a:lstStyle/>
          <a:p>
            <a:pPr marL="0" indent="0">
              <a:lnSpc>
                <a:spcPts val="2300"/>
              </a:lnSpc>
              <a:buNone/>
            </a:pPr>
            <a:r>
              <a:rPr lang="en-US" sz="1700" b="1" dirty="0">
                <a:solidFill>
                  <a:srgbClr val="10333A"/>
                </a:solidFill>
                <a:latin typeface="Meiryo" pitchFamily="34" charset="0"/>
                <a:ea typeface="Meiryo" pitchFamily="34" charset="-122"/>
                <a:cs typeface="Meiryo" pitchFamily="34" charset="-120"/>
              </a:rPr>
              <a:t>部署IDの流れ</a:t>
            </a:r>
            <a:endParaRPr lang="en-US" sz="17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部署マスタ → 保管場所マスタ・ユーザーマスタ・機器マスタ（設置部署）・医療機器履歴（実施部署）の4方向に伸びる。保管場所は部署に属するので、機器の部署と保管場所の部署が食い違う組み合わせは保存時に止める。部署の担当者は持たず、人の情報はユーザーマスタだけに置く。</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その他のマスタ</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a:solidFill>
                  <a:srgbClr val="7B8A8E"/>
                </a:solidFill>
                <a:latin typeface="Meiryo" pitchFamily="34" charset="0"/>
                <a:ea typeface="Meiryo" pitchFamily="34" charset="-122"/>
                <a:cs typeface="Meiryo" pitchFamily="34" charset="-120"/>
              </a:rPr>
              <a:t>メーカー・ファイルBOX・操作種別</a:t>
            </a:r>
            <a:endParaRPr lang="en-US" sz="1400" dirty="0"/>
          </a:p>
        </p:txBody>
      </p:sp>
      <p:sp>
        <p:nvSpPr>
          <p:cNvPr id="4" name="Shape 2"/>
          <p:cNvSpPr/>
          <p:nvPr/>
        </p:nvSpPr>
        <p:spPr>
          <a:xfrm>
            <a:off x="457200" y="1234440"/>
            <a:ext cx="3474720" cy="3383280"/>
          </a:xfrm>
          <a:prstGeom prst="roundRect">
            <a:avLst>
              <a:gd name="adj" fmla="val 263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5" name="Text 3"/>
          <p:cNvSpPr/>
          <p:nvPr/>
        </p:nvSpPr>
        <p:spPr>
          <a:xfrm>
            <a:off x="6035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メーカーマスタ</a:t>
            </a:r>
            <a:endParaRPr lang="en-US" sz="1800" dirty="0"/>
          </a:p>
        </p:txBody>
      </p:sp>
      <p:sp>
        <p:nvSpPr>
          <p:cNvPr id="6" name="Shape 4"/>
          <p:cNvSpPr/>
          <p:nvPr/>
        </p:nvSpPr>
        <p:spPr>
          <a:xfrm>
            <a:off x="585216" y="1728216"/>
            <a:ext cx="3218688" cy="0"/>
          </a:xfrm>
          <a:prstGeom prst="line">
            <a:avLst/>
          </a:prstGeom>
          <a:noFill/>
          <a:ln w="9525">
            <a:solidFill>
              <a:srgbClr val="0B7A85">
                <a:alpha val="45000"/>
              </a:srgbClr>
            </a:solidFill>
            <a:prstDash val="solid"/>
          </a:ln>
        </p:spPr>
        <p:txBody>
          <a:bodyPr/>
          <a:p/>
        </p:txBody>
      </p:sp>
      <p:sp>
        <p:nvSpPr>
          <p:cNvPr id="7" name="Text 5"/>
          <p:cNvSpPr/>
          <p:nvPr/>
        </p:nvSpPr>
        <p:spPr>
          <a:xfrm>
            <a:off x="621792" y="1801368"/>
            <a:ext cx="2487168" cy="269748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メーカーID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メーカー名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電話番号</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担当者</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メールアドレス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ホームページ</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表示順</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8" name="Text 6"/>
          <p:cNvSpPr/>
          <p:nvPr/>
        </p:nvSpPr>
        <p:spPr>
          <a:xfrm>
            <a:off x="3108960" y="1819656"/>
            <a:ext cx="658368" cy="2697480"/>
          </a:xfrm>
          <a:prstGeom prst="rect">
            <a:avLst/>
          </a:prstGeom>
          <a:noFill/>
          <a:ln/>
        </p:spPr>
        <p:txBody>
          <a:bodyPr wrap="square" lIns="0" tIns="0" rIns="0" bIns="0" rtlCol="0" anchor="t"/>
          <a:lstStyle/>
          <a:p>
            <a:pPr marL="0" indent="0" algn="r">
              <a:lnSpc>
                <a:spcPts val="2300"/>
              </a:lnSpc>
              <a:buNone/>
            </a:pPr>
            <a:r>
              <a:rPr lang="en-US" sz="1300" b="1" dirty="0">
                <a:solidFill>
                  <a:srgbClr val="0B7A85"/>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9" name="Shape 7"/>
          <p:cNvSpPr/>
          <p:nvPr/>
        </p:nvSpPr>
        <p:spPr>
          <a:xfrm>
            <a:off x="4343400" y="1234440"/>
            <a:ext cx="3474720" cy="2484120"/>
          </a:xfrm>
          <a:prstGeom prst="roundRect">
            <a:avLst>
              <a:gd name="adj" fmla="val 2945"/>
            </a:avLst>
          </a:prstGeom>
          <a:solidFill>
            <a:srgbClr val="FFFFFF"/>
          </a:solidFill>
          <a:ln w="19050">
            <a:solidFill>
              <a:srgbClr val="0B7A85"/>
            </a:solidFill>
            <a:prstDash val="solid"/>
          </a:ln>
          <a:effectLst>
            <a:outerShdw blurRad="127000" dist="12700" dir="5400000" algn="bl" rotWithShape="0">
              <a:srgbClr val="8FA3A7">
                <a:alpha val="30000"/>
              </a:srgbClr>
            </a:outerShdw>
          </a:effectLst>
        </p:spPr>
        <p:txBody>
          <a:bodyPr/>
          <a:p/>
        </p:txBody>
      </p:sp>
      <p:sp>
        <p:nvSpPr>
          <p:cNvPr id="10" name="Text 8"/>
          <p:cNvSpPr/>
          <p:nvPr/>
        </p:nvSpPr>
        <p:spPr>
          <a:xfrm>
            <a:off x="4489704" y="1307592"/>
            <a:ext cx="3182112" cy="402336"/>
          </a:xfrm>
          <a:prstGeom prst="rect">
            <a:avLst/>
          </a:prstGeom>
          <a:noFill/>
          <a:ln/>
        </p:spPr>
        <p:txBody>
          <a:bodyPr wrap="square" lIns="0" tIns="0" rIns="0" bIns="0" rtlCol="0" anchor="ctr"/>
          <a:lstStyle/>
          <a:p>
            <a:pPr marL="0" indent="0">
              <a:buNone/>
            </a:pPr>
            <a:r>
              <a:rPr lang="en-US" sz="1800" b="1" dirty="0">
                <a:solidFill>
                  <a:srgbClr val="0B7A85"/>
                </a:solidFill>
                <a:latin typeface="Meiryo" pitchFamily="34" charset="0"/>
                <a:ea typeface="Meiryo" pitchFamily="34" charset="-122"/>
                <a:cs typeface="Meiryo" pitchFamily="34" charset="-120"/>
              </a:rPr>
              <a:t>ファイルBOX（ドライブ）</a:t>
            </a:r>
            <a:endParaRPr lang="en-US" sz="1800" dirty="0"/>
          </a:p>
        </p:txBody>
      </p:sp>
      <p:sp>
        <p:nvSpPr>
          <p:cNvPr id="11" name="Shape 9"/>
          <p:cNvSpPr/>
          <p:nvPr/>
        </p:nvSpPr>
        <p:spPr>
          <a:xfrm>
            <a:off x="4471416" y="1728216"/>
            <a:ext cx="3218688" cy="0"/>
          </a:xfrm>
          <a:prstGeom prst="line">
            <a:avLst/>
          </a:prstGeom>
          <a:noFill/>
          <a:ln w="9525">
            <a:solidFill>
              <a:srgbClr val="0B7A85">
                <a:alpha val="45000"/>
              </a:srgbClr>
            </a:solidFill>
            <a:prstDash val="solid"/>
          </a:ln>
        </p:spPr>
        <p:txBody>
          <a:bodyPr/>
          <a:p/>
        </p:txBody>
      </p:sp>
      <p:sp>
        <p:nvSpPr>
          <p:cNvPr id="12" name="Text 10"/>
          <p:cNvSpPr/>
          <p:nvPr/>
        </p:nvSpPr>
        <p:spPr>
          <a:xfrm>
            <a:off x="4507992" y="1801368"/>
            <a:ext cx="3017520" cy="184404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テーブルは作らない。</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Google ドライブに機器ごとの</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フォルダを作り、そのIDを</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機器マスタの ファイルBOXID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に持たせて紐づける。</a:t>
            </a:r>
            <a:endParaRPr lang="en-US" sz="1500" dirty="0"/>
          </a:p>
        </p:txBody>
      </p:sp>
      <p:sp>
        <p:nvSpPr>
          <p:cNvPr id="13" name="Text 11"/>
          <p:cNvSpPr/>
          <p:nvPr/>
        </p:nvSpPr>
        <p:spPr>
          <a:xfrm>
            <a:off x="6995160" y="1819656"/>
            <a:ext cx="658368" cy="1844040"/>
          </a:xfrm>
          <a:prstGeom prst="rect">
            <a:avLst/>
          </a:prstGeom>
          <a:noFill/>
          <a:ln/>
        </p:spPr>
        <p:txBody>
          <a:bodyPr wrap="square" lIns="0" tIns="0" rIns="0" bIns="0" rtlCol="0" anchor="t"/>
          <a:lstStyle/>
          <a:p>
            <a:pPr marL="0" indent="0" algn="r">
              <a:lnSpc>
                <a:spcPts val="2300"/>
              </a:lnSpc>
              <a:buNone/>
            </a:pPr>
            <a:endParaRPr lang="en-US" sz="1300" dirty="0"/>
          </a:p>
        </p:txBody>
      </p:sp>
      <p:sp>
        <p:nvSpPr>
          <p:cNvPr id="14" name="Shape 12"/>
          <p:cNvSpPr/>
          <p:nvPr/>
        </p:nvSpPr>
        <p:spPr>
          <a:xfrm>
            <a:off x="8229600" y="1234440"/>
            <a:ext cx="3474720" cy="2514600"/>
          </a:xfrm>
          <a:prstGeom prst="roundRect">
            <a:avLst>
              <a:gd name="adj" fmla="val 3337"/>
            </a:avLst>
          </a:prstGeom>
          <a:solidFill>
            <a:srgbClr val="FFFFFF"/>
          </a:solidFill>
          <a:ln w="19050">
            <a:solidFill>
              <a:srgbClr val="B26B12"/>
            </a:solidFill>
            <a:prstDash val="solid"/>
          </a:ln>
          <a:effectLst>
            <a:outerShdw blurRad="127000" dist="12700" dir="5400000" algn="bl" rotWithShape="0">
              <a:srgbClr val="8FA3A7">
                <a:alpha val="30000"/>
              </a:srgbClr>
            </a:outerShdw>
          </a:effectLst>
        </p:spPr>
        <p:txBody>
          <a:bodyPr/>
          <a:p/>
        </p:txBody>
      </p:sp>
      <p:sp>
        <p:nvSpPr>
          <p:cNvPr id="15" name="Text 13"/>
          <p:cNvSpPr/>
          <p:nvPr/>
        </p:nvSpPr>
        <p:spPr>
          <a:xfrm>
            <a:off x="8375904" y="1307592"/>
            <a:ext cx="3182112" cy="402336"/>
          </a:xfrm>
          <a:prstGeom prst="rect">
            <a:avLst/>
          </a:prstGeom>
          <a:noFill/>
          <a:ln/>
        </p:spPr>
        <p:txBody>
          <a:bodyPr wrap="square" lIns="0" tIns="0" rIns="0" bIns="0" rtlCol="0" anchor="ctr"/>
          <a:lstStyle/>
          <a:p>
            <a:pPr marL="0" indent="0">
              <a:buNone/>
            </a:pPr>
            <a:r>
              <a:rPr lang="en-US" sz="1800" b="1" dirty="0">
                <a:solidFill>
                  <a:srgbClr val="B26B12"/>
                </a:solidFill>
                <a:latin typeface="Meiryo" pitchFamily="34" charset="0"/>
                <a:ea typeface="Meiryo" pitchFamily="34" charset="-122"/>
                <a:cs typeface="Meiryo" pitchFamily="34" charset="-120"/>
              </a:rPr>
              <a:t>アクションマスタ</a:t>
            </a:r>
            <a:endParaRPr lang="en-US" sz="1800" dirty="0"/>
          </a:p>
        </p:txBody>
      </p:sp>
      <p:sp>
        <p:nvSpPr>
          <p:cNvPr id="16" name="Shape 14"/>
          <p:cNvSpPr/>
          <p:nvPr/>
        </p:nvSpPr>
        <p:spPr>
          <a:xfrm>
            <a:off x="8357616" y="1728216"/>
            <a:ext cx="3218688" cy="0"/>
          </a:xfrm>
          <a:prstGeom prst="line">
            <a:avLst/>
          </a:prstGeom>
          <a:noFill/>
          <a:ln w="9525">
            <a:solidFill>
              <a:srgbClr val="B26B12">
                <a:alpha val="45000"/>
              </a:srgbClr>
            </a:solidFill>
            <a:prstDash val="solid"/>
          </a:ln>
        </p:spPr>
        <p:txBody>
          <a:bodyPr/>
          <a:p/>
        </p:txBody>
      </p:sp>
      <p:sp>
        <p:nvSpPr>
          <p:cNvPr id="17" name="Text 15"/>
          <p:cNvSpPr/>
          <p:nvPr/>
        </p:nvSpPr>
        <p:spPr>
          <a:xfrm>
            <a:off x="8394192" y="1801368"/>
            <a:ext cx="2487168" cy="1828800"/>
          </a:xfrm>
          <a:prstGeom prst="rect">
            <a:avLst/>
          </a:prstGeom>
          <a:noFill/>
          <a:ln/>
        </p:spPr>
        <p:txBody>
          <a:bodyPr wrap="square" lIns="0" tIns="0" rIns="0" bIns="0" rtlCol="0" anchor="t"/>
          <a:lstStyle/>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アクションID</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アクション名</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ステータス更新</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点検日更新</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有効</a:t>
            </a:r>
            <a:endParaRPr lang="en-US" sz="1500" dirty="0"/>
          </a:p>
          <a:p>
            <a:pPr marL="0" indent="0">
              <a:lnSpc>
                <a:spcPts val="2300"/>
              </a:lnSpc>
              <a:buNone/>
            </a:pPr>
            <a:r>
              <a:rPr lang="en-US" sz="1500" b="1" dirty="0">
                <a:solidFill>
                  <a:srgbClr val="10333A"/>
                </a:solidFill>
                <a:latin typeface="Meiryo" pitchFamily="34" charset="0"/>
                <a:ea typeface="Meiryo" pitchFamily="34" charset="-122"/>
                <a:cs typeface="Meiryo" pitchFamily="34" charset="-120"/>
              </a:rPr>
              <a:t>備考</a:t>
            </a:r>
            <a:endParaRPr lang="en-US" sz="1500" dirty="0"/>
          </a:p>
        </p:txBody>
      </p:sp>
      <p:sp>
        <p:nvSpPr>
          <p:cNvPr id="18" name="Text 16"/>
          <p:cNvSpPr/>
          <p:nvPr/>
        </p:nvSpPr>
        <p:spPr>
          <a:xfrm>
            <a:off x="10881360" y="1819656"/>
            <a:ext cx="658368" cy="1828800"/>
          </a:xfrm>
          <a:prstGeom prst="rect">
            <a:avLst/>
          </a:prstGeom>
          <a:noFill/>
          <a:ln/>
        </p:spPr>
        <p:txBody>
          <a:bodyPr wrap="square" lIns="0" tIns="0" rIns="0" bIns="0" rtlCol="0" anchor="t"/>
          <a:lstStyle/>
          <a:p>
            <a:pPr marL="0" indent="0" algn="r">
              <a:lnSpc>
                <a:spcPts val="2300"/>
              </a:lnSpc>
              <a:buNone/>
            </a:pPr>
            <a:r>
              <a:rPr lang="en-US" sz="1300" b="1" dirty="0">
                <a:solidFill>
                  <a:srgbClr val="B26B12"/>
                </a:solidFill>
                <a:latin typeface="Meiryo" pitchFamily="34" charset="0"/>
                <a:ea typeface="Meiryo" pitchFamily="34" charset="-122"/>
                <a:cs typeface="Meiryo" pitchFamily="34" charset="-120"/>
              </a:rPr>
              <a:t>PK</a:t>
            </a: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a:p>
            <a:pPr marL="0" indent="0" algn="r">
              <a:lnSpc>
                <a:spcPts val="2300"/>
              </a:lnSpc>
              <a:buNone/>
            </a:pPr>
            <a:endParaRPr lang="en-US" sz="1300" dirty="0"/>
          </a:p>
        </p:txBody>
      </p:sp>
      <p:sp>
        <p:nvSpPr>
          <p:cNvPr id="19" name="Shape 17"/>
          <p:cNvSpPr/>
          <p:nvPr/>
        </p:nvSpPr>
        <p:spPr>
          <a:xfrm>
            <a:off x="8229600" y="3886200"/>
            <a:ext cx="3474720" cy="2103120"/>
          </a:xfrm>
          <a:prstGeom prst="roundRect">
            <a:avLst>
              <a:gd name="adj" fmla="val 3265"/>
            </a:avLst>
          </a:prstGeom>
          <a:solidFill>
            <a:srgbClr val="FFF6E9"/>
          </a:solidFill>
          <a:ln w="12700">
            <a:solidFill>
              <a:srgbClr val="E3C48F"/>
            </a:solidFill>
            <a:prstDash val="solid"/>
          </a:ln>
        </p:spPr>
        <p:txBody>
          <a:bodyPr/>
          <a:p/>
        </p:txBody>
      </p:sp>
      <p:sp>
        <p:nvSpPr>
          <p:cNvPr id="20" name="Text 18"/>
          <p:cNvSpPr/>
          <p:nvPr/>
        </p:nvSpPr>
        <p:spPr>
          <a:xfrm>
            <a:off x="8458200" y="4069080"/>
            <a:ext cx="3017520" cy="1783080"/>
          </a:xfrm>
          <a:prstGeom prst="rect">
            <a:avLst/>
          </a:prstGeom>
          <a:noFill/>
          <a:ln/>
        </p:spPr>
        <p:txBody>
          <a:bodyPr wrap="square" lIns="0" tIns="0" rIns="0" bIns="0" rtlCol="0" anchor="t"/>
          <a:lstStyle/>
          <a:p>
            <a:pPr marL="0" indent="0">
              <a:lnSpc>
                <a:spcPts val="2000"/>
              </a:lnSpc>
              <a:buNone/>
            </a:pPr>
            <a:r>
              <a:rPr lang="en-US" sz="1600" b="1" dirty="0">
                <a:solidFill>
                  <a:srgbClr val="B26B12"/>
                </a:solidFill>
                <a:latin typeface="Meiryo" pitchFamily="34" charset="0"/>
                <a:ea typeface="Meiryo" pitchFamily="34" charset="-122"/>
                <a:cs typeface="Meiryo" pitchFamily="34" charset="-120"/>
              </a:rPr>
              <a:t>履歴を動かす11種</a:t>
            </a:r>
            <a:endParaRPr lang="en-US" sz="1600" dirty="0"/>
          </a:p>
          <a:p>
            <a:pPr marL="0" indent="0">
              <a:lnSpc>
                <a:spcPts val="2000"/>
              </a:lnSpc>
              <a:buNone/>
            </a:pPr>
            <a:r>
              <a:rPr lang="en-US" sz="1350" dirty="0">
                <a:solidFill>
                  <a:srgbClr val="10333A"/>
                </a:solidFill>
                <a:latin typeface="Meiryo" pitchFamily="34" charset="0"/>
                <a:ea typeface="Meiryo" pitchFamily="34" charset="-122"/>
                <a:cs typeface="Meiryo" pitchFamily="34" charset="-120"/>
              </a:rPr>
              <a:t>導入／部署点検／業者点検／故障報告／故障出し／故障復帰／移設／貸出／返却／廃棄・紛失／その他報告</a:t>
            </a:r>
            <a:endParaRPr lang="en-US" sz="1600" dirty="0"/>
          </a:p>
          <a:p>
            <a:pPr marL="0" indent="0">
              <a:lnSpc>
                <a:spcPts val="2000"/>
              </a:lnSpc>
              <a:buNone/>
            </a:pPr>
            <a:endParaRPr lang="en-US" sz="1600" dirty="0"/>
          </a:p>
          <a:p>
            <a:pPr marL="0" indent="0">
              <a:lnSpc>
                <a:spcPts val="2000"/>
              </a:lnSpc>
              <a:buNone/>
            </a:pPr>
            <a:r>
              <a:rPr lang="en-US" sz="1350" dirty="0">
                <a:solidFill>
                  <a:srgbClr val="10333A"/>
                </a:solidFill>
                <a:latin typeface="Meiryo" pitchFamily="34" charset="0"/>
                <a:ea typeface="Meiryo" pitchFamily="34" charset="-122"/>
                <a:cs typeface="Meiryo" pitchFamily="34" charset="-120"/>
              </a:rPr>
              <a:t>登録でステータスが変わる（その他報告は除く）。校正は業者点検に統合。</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医療機器管理台帳（ビュー）</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a:solidFill>
                  <a:srgbClr val="7B8A8E"/>
                </a:solidFill>
                <a:latin typeface="Meiryo" pitchFamily="34" charset="0"/>
                <a:ea typeface="Meiryo" pitchFamily="34" charset="-122"/>
                <a:cs typeface="Meiryo" pitchFamily="34" charset="-120"/>
              </a:rPr>
              <a:t>18列すべて導出可能 ／ 手入力しない</a:t>
            </a:r>
            <a:endParaRPr lang="en-US" sz="1400" dirty="0"/>
          </a:p>
        </p:txBody>
      </p:sp>
      <p:sp>
        <p:nvSpPr>
          <p:cNvPr id="4" name="Shape 2"/>
          <p:cNvSpPr/>
          <p:nvPr/>
        </p:nvSpPr>
        <p:spPr>
          <a:xfrm>
            <a:off x="457200" y="1143000"/>
            <a:ext cx="5394960" cy="3154680"/>
          </a:xfrm>
          <a:prstGeom prst="roundRect">
            <a:avLst>
              <a:gd name="adj" fmla="val 1824"/>
            </a:avLst>
          </a:prstGeom>
          <a:solidFill>
            <a:srgbClr val="FFFFFF"/>
          </a:solidFill>
          <a:ln w="19050">
            <a:solidFill>
              <a:srgbClr val="5A6B70"/>
            </a:solidFill>
            <a:prstDash val="solid"/>
          </a:ln>
          <a:effectLst>
            <a:outerShdw blurRad="127000" dist="12700" dir="5400000" algn="bl" rotWithShape="0">
              <a:srgbClr val="8FA3A7">
                <a:alpha val="30000"/>
              </a:srgbClr>
            </a:outerShdw>
          </a:effectLst>
        </p:spPr>
        <p:txBody>
          <a:bodyPr/>
          <a:p/>
        </p:txBody>
      </p:sp>
      <p:sp>
        <p:nvSpPr>
          <p:cNvPr id="5" name="Text 3"/>
          <p:cNvSpPr/>
          <p:nvPr/>
        </p:nvSpPr>
        <p:spPr>
          <a:xfrm>
            <a:off x="685800" y="1325880"/>
            <a:ext cx="4937760" cy="2788920"/>
          </a:xfrm>
          <a:prstGeom prst="rect">
            <a:avLst/>
          </a:prstGeom>
          <a:noFill/>
          <a:ln/>
        </p:spPr>
        <p:txBody>
          <a:bodyPr wrap="square" lIns="0" tIns="0" rIns="0" bIns="0" rtlCol="0" anchor="t"/>
          <a:lstStyle/>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管理番号　←　機器マスタ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機器名　←　機器マスタ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機器区分　←　機器区分マスタ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メーカー　←　メーカーマスタ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型番　←　機器マスタ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製造番号　←　機器マスタ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設置部署　←　部署マスタ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保管場所　←　保管場所マスタ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ステータス　←　機器マスタ（履歴で更新）</a:t>
            </a:r>
            <a:endParaRPr lang="en-US" sz="1500" dirty="0"/>
          </a:p>
        </p:txBody>
      </p:sp>
      <p:sp>
        <p:nvSpPr>
          <p:cNvPr id="6" name="Shape 4"/>
          <p:cNvSpPr/>
          <p:nvPr/>
        </p:nvSpPr>
        <p:spPr>
          <a:xfrm>
            <a:off x="6309360" y="1143000"/>
            <a:ext cx="5394960" cy="3154680"/>
          </a:xfrm>
          <a:prstGeom prst="roundRect">
            <a:avLst>
              <a:gd name="adj" fmla="val 1975"/>
            </a:avLst>
          </a:prstGeom>
          <a:solidFill>
            <a:srgbClr val="FFFFFF"/>
          </a:solidFill>
          <a:ln w="19050">
            <a:solidFill>
              <a:srgbClr val="5A6B70"/>
            </a:solidFill>
            <a:prstDash val="solid"/>
          </a:ln>
          <a:effectLst>
            <a:outerShdw blurRad="127000" dist="12700" dir="5400000" algn="bl" rotWithShape="0">
              <a:srgbClr val="8FA3A7">
                <a:alpha val="30000"/>
              </a:srgbClr>
            </a:outerShdw>
          </a:effectLst>
        </p:spPr>
        <p:txBody>
          <a:bodyPr/>
          <a:p/>
        </p:txBody>
      </p:sp>
      <p:sp>
        <p:nvSpPr>
          <p:cNvPr id="7" name="Text 5"/>
          <p:cNvSpPr/>
          <p:nvPr/>
        </p:nvSpPr>
        <p:spPr>
          <a:xfrm>
            <a:off x="6537960" y="1325880"/>
            <a:ext cx="4937760" cy="2788920"/>
          </a:xfrm>
          <a:prstGeom prst="rect">
            <a:avLst/>
          </a:prstGeom>
          <a:noFill/>
          <a:ln/>
        </p:spPr>
        <p:txBody>
          <a:bodyPr wrap="square" lIns="0" tIns="0" rIns="0" bIns="0" rtlCol="0" anchor="t"/>
          <a:lstStyle/>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最終点検日　←　履歴／部署点検の最新</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次回点検予定日　←　最終点検日＋部署周期</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最終業者点検日　←　履歴／業者点検の最新</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次回業者点検予定日　←　最終業者点検日＋業者周期</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経過年数　←　使用開始日から算出</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特定保守管理医療機器　←　機器区分マスタ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クラス分類　←　機器マスタ</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ファイルBOX　←　Google ドライブ</a:t>
            </a:r>
            <a:endParaRPr lang="en-US" sz="1500" dirty="0"/>
          </a:p>
          <a:p>
            <a:pPr marL="0" indent="0">
              <a:lnSpc>
                <a:spcPts val="2400"/>
              </a:lnSpc>
              <a:buNone/>
            </a:pPr>
            <a:r>
              <a:rPr lang="en-US" sz="1500" b="1" dirty="0">
                <a:solidFill>
                  <a:srgbClr val="10333A"/>
                </a:solidFill>
                <a:latin typeface="Meiryo" pitchFamily="34" charset="0"/>
                <a:ea typeface="Meiryo" pitchFamily="34" charset="-122"/>
                <a:cs typeface="Meiryo" pitchFamily="34" charset="-120"/>
              </a:rPr>
              <a:t>備考　←　機器マスタ</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9"/>
        </a:solidFill>
        <a:effectLst/>
      </p:bgPr>
    </p:bg>
    <p:spTree>
      <p:nvGrpSpPr>
        <p:cNvPr id="1" name=""/>
        <p:cNvGrpSpPr/>
        <p:nvPr/>
      </p:nvGrpSpPr>
      <p:grpSpPr>
        <a:xfrm>
          <a:off x="0" y="0"/>
          <a:ext cx="0" cy="0"/>
          <a:chOff x="0" y="0"/>
          <a:chExt cx="0" cy="0"/>
        </a:xfrm>
      </p:grpSpPr>
      <p:sp>
        <p:nvSpPr>
          <p:cNvPr id="2" name="Text 0"/>
          <p:cNvSpPr/>
          <p:nvPr/>
        </p:nvSpPr>
        <p:spPr>
          <a:xfrm>
            <a:off x="457200" y="256032"/>
            <a:ext cx="7772400" cy="548640"/>
          </a:xfrm>
          <a:prstGeom prst="rect">
            <a:avLst/>
          </a:prstGeom>
          <a:noFill/>
          <a:ln/>
        </p:spPr>
        <p:txBody>
          <a:bodyPr wrap="square" lIns="0" tIns="0" rIns="0" bIns="0" rtlCol="0" anchor="ctr"/>
          <a:lstStyle/>
          <a:p>
            <a:pPr marL="0" indent="0">
              <a:buNone/>
            </a:pPr>
            <a:r>
              <a:rPr lang="en-US" sz="3000" b="1" dirty="0">
                <a:solidFill>
                  <a:srgbClr val="10333A"/>
                </a:solidFill>
                <a:latin typeface="Meiryo" pitchFamily="34" charset="0"/>
                <a:ea typeface="Meiryo" pitchFamily="34" charset="-122"/>
                <a:cs typeface="Meiryo" pitchFamily="34" charset="-120"/>
              </a:rPr>
              <a:t>設計メモ</a:t>
            </a:r>
            <a:endParaRPr lang="en-US" sz="3000" dirty="0"/>
          </a:p>
        </p:txBody>
      </p:sp>
      <p:sp>
        <p:nvSpPr>
          <p:cNvPr id="3" name="Text 1"/>
          <p:cNvSpPr/>
          <p:nvPr/>
        </p:nvSpPr>
        <p:spPr>
          <a:xfrm>
            <a:off x="8229600" y="292608"/>
            <a:ext cx="3520440" cy="475488"/>
          </a:xfrm>
          <a:prstGeom prst="rect">
            <a:avLst/>
          </a:prstGeom>
          <a:noFill/>
          <a:ln/>
        </p:spPr>
        <p:txBody>
          <a:bodyPr wrap="square" lIns="0" tIns="0" rIns="0" bIns="0" rtlCol="0" anchor="ctr"/>
          <a:lstStyle/>
          <a:p>
            <a:pPr marL="0" indent="0" algn="r">
              <a:buNone/>
            </a:pPr>
            <a:r>
              <a:rPr lang="en-US" sz="1400" dirty="0" err="1">
                <a:solidFill>
                  <a:srgbClr val="7B8A8E"/>
                </a:solidFill>
                <a:latin typeface="Meiryo" pitchFamily="34" charset="0"/>
                <a:ea typeface="Meiryo" pitchFamily="34" charset="-122"/>
                <a:cs typeface="Meiryo" pitchFamily="34" charset="-120"/>
              </a:rPr>
              <a:t>運用前に</a:t>
            </a:r>
            <a:r>
              <a:rPr lang="ja-JP" altLang="en-US" sz="1400" dirty="0">
                <a:solidFill>
                  <a:srgbClr val="7B8A8E"/>
                </a:solidFill>
                <a:latin typeface="Meiryo" pitchFamily="34" charset="0"/>
                <a:ea typeface="Meiryo" pitchFamily="34" charset="-122"/>
                <a:cs typeface="Meiryo" pitchFamily="34" charset="-120"/>
              </a:rPr>
              <a:t>備忘ポイント</a:t>
            </a:r>
            <a:endParaRPr lang="en-US" sz="1400" dirty="0"/>
          </a:p>
        </p:txBody>
      </p:sp>
      <p:sp>
        <p:nvSpPr>
          <p:cNvPr id="4" name="Shape 2"/>
          <p:cNvSpPr/>
          <p:nvPr/>
        </p:nvSpPr>
        <p:spPr>
          <a:xfrm>
            <a:off x="457200" y="1234440"/>
            <a:ext cx="5394960" cy="2148840"/>
          </a:xfrm>
          <a:prstGeom prst="roundRect">
            <a:avLst>
              <a:gd name="adj" fmla="val 4255"/>
            </a:avLst>
          </a:prstGeom>
          <a:solidFill>
            <a:srgbClr val="FFFFFF"/>
          </a:solidFill>
          <a:ln w="12700">
            <a:solidFill>
              <a:srgbClr val="C9D6D8"/>
            </a:solidFill>
            <a:prstDash val="solid"/>
          </a:ln>
          <a:effectLst>
            <a:outerShdw blurRad="127000" dist="12700" dir="5400000" algn="bl" rotWithShape="0">
              <a:srgbClr val="8FA3A7">
                <a:alpha val="30000"/>
              </a:srgbClr>
            </a:outerShdw>
          </a:effectLst>
        </p:spPr>
        <p:txBody>
          <a:bodyPr/>
          <a:p/>
        </p:txBody>
      </p:sp>
      <p:sp>
        <p:nvSpPr>
          <p:cNvPr id="5" name="Shape 3"/>
          <p:cNvSpPr/>
          <p:nvPr/>
        </p:nvSpPr>
        <p:spPr>
          <a:xfrm>
            <a:off x="777240" y="1554480"/>
            <a:ext cx="658368" cy="658368"/>
          </a:xfrm>
          <a:prstGeom prst="ellipse">
            <a:avLst/>
          </a:prstGeom>
          <a:solidFill>
            <a:srgbClr val="0B7A85"/>
          </a:solidFill>
          <a:ln w="12700">
            <a:solidFill>
              <a:srgbClr val="0B7A85"/>
            </a:solidFill>
            <a:prstDash val="solid"/>
          </a:ln>
        </p:spPr>
        <p:txBody>
          <a:bodyPr/>
          <a:p/>
        </p:txBody>
      </p:sp>
      <p:sp>
        <p:nvSpPr>
          <p:cNvPr id="6" name="Text 4"/>
          <p:cNvSpPr/>
          <p:nvPr/>
        </p:nvSpPr>
        <p:spPr>
          <a:xfrm>
            <a:off x="777240" y="155448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pitchFamily="34" charset="0"/>
                <a:ea typeface="Meiryo" pitchFamily="34" charset="-122"/>
                <a:cs typeface="Meiryo" pitchFamily="34" charset="-120"/>
              </a:rPr>
              <a:t>01</a:t>
            </a:r>
            <a:endParaRPr lang="en-US" sz="1800" dirty="0"/>
          </a:p>
        </p:txBody>
      </p:sp>
      <p:sp>
        <p:nvSpPr>
          <p:cNvPr id="7" name="Text 5"/>
          <p:cNvSpPr/>
          <p:nvPr/>
        </p:nvSpPr>
        <p:spPr>
          <a:xfrm>
            <a:off x="1645920" y="1554480"/>
            <a:ext cx="3931920" cy="658368"/>
          </a:xfrm>
          <a:prstGeom prst="rect">
            <a:avLst/>
          </a:prstGeom>
          <a:noFill/>
          <a:ln/>
        </p:spPr>
        <p:txBody>
          <a:bodyPr wrap="square" lIns="0" tIns="0" rIns="0" bIns="0" rtlCol="0" anchor="ctr"/>
          <a:lstStyle/>
          <a:p>
            <a:pPr marL="0" indent="0">
              <a:buNone/>
            </a:pPr>
            <a:r>
              <a:rPr lang="en-US" sz="2000" b="1" dirty="0" err="1">
                <a:solidFill>
                  <a:srgbClr val="10333A"/>
                </a:solidFill>
                <a:latin typeface="Meiryo" pitchFamily="34" charset="0"/>
                <a:ea typeface="Meiryo" pitchFamily="34" charset="-122"/>
                <a:cs typeface="Meiryo" pitchFamily="34" charset="-120"/>
              </a:rPr>
              <a:t>ファイルBOXはドライブ</a:t>
            </a:r>
            <a:endParaRPr lang="en-US" sz="2000" dirty="0"/>
          </a:p>
        </p:txBody>
      </p:sp>
      <p:sp>
        <p:nvSpPr>
          <p:cNvPr id="8" name="Text 6"/>
          <p:cNvSpPr/>
          <p:nvPr/>
        </p:nvSpPr>
        <p:spPr>
          <a:xfrm>
            <a:off x="1645920" y="2286000"/>
            <a:ext cx="3931920" cy="914400"/>
          </a:xfrm>
          <a:prstGeom prst="rect">
            <a:avLst/>
          </a:prstGeom>
          <a:noFill/>
          <a:ln/>
        </p:spPr>
        <p:txBody>
          <a:bodyPr wrap="square" lIns="0" tIns="0" rIns="0" bIns="0" rtlCol="0" anchor="t"/>
          <a:lstStyle/>
          <a:p>
            <a:pPr marL="0" indent="0">
              <a:lnSpc>
                <a:spcPts val="2300"/>
              </a:lnSpc>
              <a:buNone/>
            </a:pPr>
            <a:r>
              <a:rPr lang="en-US" sz="1500" dirty="0" err="1">
                <a:solidFill>
                  <a:srgbClr val="10333A"/>
                </a:solidFill>
                <a:latin typeface="Meiryo" pitchFamily="34" charset="0"/>
                <a:ea typeface="Meiryo" pitchFamily="34" charset="-122"/>
                <a:cs typeface="Meiryo" pitchFamily="34" charset="-120"/>
              </a:rPr>
              <a:t>機器ごとのフォルダに取説・写真を置く。種別はファイル名の先頭。</a:t>
            </a:r>
            <a:endParaRPr lang="en-US" altLang="ja-JP" sz="1500" dirty="0">
              <a:solidFill>
                <a:srgbClr val="10333A"/>
              </a:solidFill>
              <a:latin typeface="Meiryo" pitchFamily="34" charset="0"/>
              <a:ea typeface="Meiryo" pitchFamily="34" charset="-122"/>
              <a:cs typeface="Meiryo" pitchFamily="34" charset="-120"/>
            </a:endParaRPr>
          </a:p>
          <a:p>
            <a:pPr marL="0" indent="0">
              <a:lnSpc>
                <a:spcPts val="2300"/>
              </a:lnSpc>
              <a:buNone/>
            </a:pPr>
            <a:r>
              <a:rPr lang="ja-JP" altLang="en-US" sz="1500" dirty="0">
                <a:solidFill>
                  <a:srgbClr val="10333A"/>
                </a:solidFill>
                <a:latin typeface="Meiryo" pitchFamily="34" charset="0"/>
                <a:ea typeface="Meiryo" pitchFamily="34" charset="-122"/>
              </a:rPr>
              <a:t>代表写真は __thumb.jpg で1台1枚。マスタは作らない。</a:t>
            </a:r>
            <a:endParaRPr lang="en-US" sz="1500" dirty="0"/>
          </a:p>
        </p:txBody>
      </p:sp>
      <p:sp>
        <p:nvSpPr>
          <p:cNvPr id="9" name="Shape 7"/>
          <p:cNvSpPr/>
          <p:nvPr/>
        </p:nvSpPr>
        <p:spPr>
          <a:xfrm>
            <a:off x="6309360" y="1234440"/>
            <a:ext cx="5394960" cy="2148840"/>
          </a:xfrm>
          <a:prstGeom prst="roundRect">
            <a:avLst>
              <a:gd name="adj" fmla="val 4255"/>
            </a:avLst>
          </a:prstGeom>
          <a:solidFill>
            <a:srgbClr val="FFFFFF"/>
          </a:solidFill>
          <a:ln w="12700">
            <a:solidFill>
              <a:srgbClr val="C9D6D8"/>
            </a:solidFill>
            <a:prstDash val="solid"/>
          </a:ln>
          <a:effectLst>
            <a:outerShdw blurRad="127000" dist="12700" dir="5400000" algn="bl" rotWithShape="0">
              <a:srgbClr val="8FA3A7">
                <a:alpha val="30000"/>
              </a:srgbClr>
            </a:outerShdw>
          </a:effectLst>
        </p:spPr>
        <p:txBody>
          <a:bodyPr/>
          <a:p/>
        </p:txBody>
      </p:sp>
      <p:sp>
        <p:nvSpPr>
          <p:cNvPr id="10" name="Shape 8"/>
          <p:cNvSpPr/>
          <p:nvPr/>
        </p:nvSpPr>
        <p:spPr>
          <a:xfrm>
            <a:off x="6629400" y="1554480"/>
            <a:ext cx="658368" cy="658368"/>
          </a:xfrm>
          <a:prstGeom prst="ellipse">
            <a:avLst/>
          </a:prstGeom>
          <a:solidFill>
            <a:srgbClr val="B26B12"/>
          </a:solidFill>
          <a:ln w="12700">
            <a:solidFill>
              <a:srgbClr val="B26B12"/>
            </a:solidFill>
            <a:prstDash val="solid"/>
          </a:ln>
        </p:spPr>
        <p:txBody>
          <a:bodyPr/>
          <a:p/>
        </p:txBody>
      </p:sp>
      <p:sp>
        <p:nvSpPr>
          <p:cNvPr id="11" name="Text 9"/>
          <p:cNvSpPr/>
          <p:nvPr/>
        </p:nvSpPr>
        <p:spPr>
          <a:xfrm>
            <a:off x="6629400" y="155448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pitchFamily="34" charset="0"/>
                <a:ea typeface="Meiryo" pitchFamily="34" charset="-122"/>
                <a:cs typeface="Meiryo" pitchFamily="34" charset="-120"/>
              </a:rPr>
              <a:t>02</a:t>
            </a:r>
            <a:endParaRPr lang="en-US" sz="1800" dirty="0"/>
          </a:p>
        </p:txBody>
      </p:sp>
      <p:sp>
        <p:nvSpPr>
          <p:cNvPr id="12" name="Text 10"/>
          <p:cNvSpPr/>
          <p:nvPr/>
        </p:nvSpPr>
        <p:spPr>
          <a:xfrm>
            <a:off x="7498080" y="1554480"/>
            <a:ext cx="3931920" cy="658368"/>
          </a:xfrm>
          <a:prstGeom prst="rect">
            <a:avLst/>
          </a:prstGeom>
          <a:noFill/>
          <a:ln/>
        </p:spPr>
        <p:txBody>
          <a:bodyPr wrap="square" lIns="0" tIns="0" rIns="0" bIns="0" rtlCol="0" anchor="ctr"/>
          <a:lstStyle/>
          <a:p>
            <a:pPr marL="0" indent="0">
              <a:buNone/>
            </a:pPr>
            <a:r>
              <a:rPr lang="en-US" sz="2000" b="1" dirty="0">
                <a:solidFill>
                  <a:srgbClr val="10333A"/>
                </a:solidFill>
                <a:latin typeface="Meiryo" pitchFamily="34" charset="0"/>
                <a:ea typeface="Meiryo" pitchFamily="34" charset="-122"/>
                <a:cs typeface="Meiryo" pitchFamily="34" charset="-120"/>
              </a:rPr>
              <a:t>履歴を直せるのは3種類</a:t>
            </a:r>
            <a:endParaRPr lang="en-US" sz="2000" dirty="0"/>
          </a:p>
        </p:txBody>
      </p:sp>
      <p:sp>
        <p:nvSpPr>
          <p:cNvPr id="13" name="Text 11"/>
          <p:cNvSpPr/>
          <p:nvPr/>
        </p:nvSpPr>
        <p:spPr>
          <a:xfrm>
            <a:off x="7498080" y="2286000"/>
            <a:ext cx="3931920" cy="914400"/>
          </a:xfrm>
          <a:prstGeom prst="rect">
            <a:avLst/>
          </a:prstGeom>
          <a:noFill/>
          <a:ln/>
        </p:spPr>
        <p:txBody>
          <a:bodyPr wrap="square" lIns="0" tIns="0" rIns="0" bIns="0" rtlCol="0" anchor="t"/>
          <a:lstStyle/>
          <a:p>
            <a:pPr marL="0" indent="0">
              <a:lnSpc>
                <a:spcPts val="2300"/>
              </a:lnSpc>
              <a:buNone/>
            </a:pPr>
            <a:r>
              <a:rPr lang="en-US" sz="1500" dirty="0">
                <a:solidFill>
                  <a:srgbClr val="10333A"/>
                </a:solidFill>
                <a:latin typeface="Meiryo" pitchFamily="34" charset="0"/>
                <a:ea typeface="Meiryo" pitchFamily="34" charset="-122"/>
                <a:cs typeface="Meiryo" pitchFamily="34" charset="-120"/>
              </a:rPr>
              <a:t>点検・故障報告・その他報告は履歴画面で直せる。</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それ以外は打ち消しのアクションを新しく登録して経緯を残す。</a:t>
            </a:r>
            <a:endParaRPr lang="en-US" sz="1500" dirty="0"/>
          </a:p>
        </p:txBody>
      </p:sp>
      <p:sp>
        <p:nvSpPr>
          <p:cNvPr id="14" name="Shape 12"/>
          <p:cNvSpPr/>
          <p:nvPr/>
        </p:nvSpPr>
        <p:spPr>
          <a:xfrm>
            <a:off x="457200" y="3703319"/>
            <a:ext cx="5394960" cy="2516505"/>
          </a:xfrm>
          <a:prstGeom prst="roundRect">
            <a:avLst>
              <a:gd name="adj" fmla="val 4255"/>
            </a:avLst>
          </a:prstGeom>
          <a:solidFill>
            <a:srgbClr val="FFFFFF"/>
          </a:solidFill>
          <a:ln w="12700">
            <a:solidFill>
              <a:srgbClr val="C9D6D8"/>
            </a:solidFill>
            <a:prstDash val="solid"/>
          </a:ln>
          <a:effectLst>
            <a:outerShdw blurRad="127000" dist="12700" dir="5400000" algn="bl" rotWithShape="0">
              <a:srgbClr val="8FA3A7">
                <a:alpha val="30000"/>
              </a:srgbClr>
            </a:outerShdw>
          </a:effectLst>
        </p:spPr>
        <p:txBody>
          <a:bodyPr/>
          <a:p/>
        </p:txBody>
      </p:sp>
      <p:sp>
        <p:nvSpPr>
          <p:cNvPr id="15" name="Shape 13"/>
          <p:cNvSpPr/>
          <p:nvPr/>
        </p:nvSpPr>
        <p:spPr>
          <a:xfrm>
            <a:off x="777240" y="4023360"/>
            <a:ext cx="658368" cy="658368"/>
          </a:xfrm>
          <a:prstGeom prst="ellipse">
            <a:avLst/>
          </a:prstGeom>
          <a:solidFill>
            <a:srgbClr val="5A6B70"/>
          </a:solidFill>
          <a:ln w="12700">
            <a:solidFill>
              <a:srgbClr val="5A6B70"/>
            </a:solidFill>
            <a:prstDash val="solid"/>
          </a:ln>
        </p:spPr>
        <p:txBody>
          <a:bodyPr/>
          <a:p/>
        </p:txBody>
      </p:sp>
      <p:sp>
        <p:nvSpPr>
          <p:cNvPr id="16" name="Text 14"/>
          <p:cNvSpPr/>
          <p:nvPr/>
        </p:nvSpPr>
        <p:spPr>
          <a:xfrm>
            <a:off x="777240" y="402336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pitchFamily="34" charset="0"/>
                <a:ea typeface="Meiryo" pitchFamily="34" charset="-122"/>
                <a:cs typeface="Meiryo" pitchFamily="34" charset="-120"/>
              </a:rPr>
              <a:t>03</a:t>
            </a:r>
            <a:endParaRPr lang="en-US" sz="1800" dirty="0"/>
          </a:p>
        </p:txBody>
      </p:sp>
      <p:sp>
        <p:nvSpPr>
          <p:cNvPr id="17" name="Text 15"/>
          <p:cNvSpPr/>
          <p:nvPr/>
        </p:nvSpPr>
        <p:spPr>
          <a:xfrm>
            <a:off x="1645920" y="4023360"/>
            <a:ext cx="3931920" cy="658368"/>
          </a:xfrm>
          <a:prstGeom prst="rect">
            <a:avLst/>
          </a:prstGeom>
          <a:noFill/>
          <a:ln/>
        </p:spPr>
        <p:txBody>
          <a:bodyPr wrap="square" lIns="0" tIns="0" rIns="0" bIns="0" rtlCol="0" anchor="ctr"/>
          <a:lstStyle/>
          <a:p>
            <a:pPr marL="0" indent="0">
              <a:buNone/>
            </a:pPr>
            <a:r>
              <a:rPr lang="en-US" sz="2000" b="1" dirty="0">
                <a:solidFill>
                  <a:srgbClr val="10333A"/>
                </a:solidFill>
                <a:latin typeface="Meiryo" pitchFamily="34" charset="0"/>
                <a:ea typeface="Meiryo" pitchFamily="34" charset="-122"/>
                <a:cs typeface="Meiryo" pitchFamily="34" charset="-120"/>
              </a:rPr>
              <a:t>マスタのID列には名前列も</a:t>
            </a:r>
            <a:endParaRPr lang="en-US" sz="2000" dirty="0"/>
          </a:p>
        </p:txBody>
      </p:sp>
      <p:sp>
        <p:nvSpPr>
          <p:cNvPr id="18" name="Text 16"/>
          <p:cNvSpPr/>
          <p:nvPr/>
        </p:nvSpPr>
        <p:spPr>
          <a:xfrm>
            <a:off x="1645920" y="4754880"/>
            <a:ext cx="3931920" cy="914400"/>
          </a:xfrm>
          <a:prstGeom prst="rect">
            <a:avLst/>
          </a:prstGeom>
          <a:noFill/>
          <a:ln/>
        </p:spPr>
        <p:txBody>
          <a:bodyPr wrap="square" lIns="0" tIns="0" rIns="0" bIns="0" rtlCol="0" anchor="t"/>
          <a:lstStyle/>
          <a:p>
            <a:pPr marL="0" indent="0">
              <a:lnSpc>
                <a:spcPts val="2300"/>
              </a:lnSpc>
              <a:buNone/>
            </a:pPr>
            <a:r>
              <a:rPr lang="en-US" sz="1500" dirty="0">
                <a:solidFill>
                  <a:srgbClr val="10333A"/>
                </a:solidFill>
                <a:latin typeface="Meiryo" pitchFamily="34" charset="0"/>
                <a:ea typeface="Meiryo" pitchFamily="34" charset="-122"/>
                <a:cs typeface="Meiryo" pitchFamily="34" charset="-120"/>
              </a:rPr>
              <a:t>IDだけだと人がシートを見て読めないので、名前の列も並べる。</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マスタを直すと refreshAllFv() が貼り直す。履歴は持たず表示時に引く。</a:t>
            </a:r>
            <a:endParaRPr lang="en-US" sz="1500" dirty="0"/>
          </a:p>
        </p:txBody>
      </p:sp>
      <p:sp>
        <p:nvSpPr>
          <p:cNvPr id="19" name="Shape 17"/>
          <p:cNvSpPr/>
          <p:nvPr/>
        </p:nvSpPr>
        <p:spPr>
          <a:xfrm>
            <a:off x="6309360" y="3703320"/>
            <a:ext cx="5425440" cy="2516504"/>
          </a:xfrm>
          <a:prstGeom prst="roundRect">
            <a:avLst>
              <a:gd name="adj" fmla="val 4255"/>
            </a:avLst>
          </a:prstGeom>
          <a:solidFill>
            <a:srgbClr val="FFFFFF"/>
          </a:solidFill>
          <a:ln w="12700">
            <a:solidFill>
              <a:srgbClr val="C9D6D8"/>
            </a:solidFill>
            <a:prstDash val="solid"/>
          </a:ln>
          <a:effectLst>
            <a:outerShdw blurRad="127000" dist="12700" dir="5400000" algn="bl" rotWithShape="0">
              <a:srgbClr val="8FA3A7">
                <a:alpha val="30000"/>
              </a:srgbClr>
            </a:outerShdw>
          </a:effectLst>
        </p:spPr>
        <p:txBody>
          <a:bodyPr/>
          <a:p/>
        </p:txBody>
      </p:sp>
      <p:sp>
        <p:nvSpPr>
          <p:cNvPr id="20" name="Shape 18"/>
          <p:cNvSpPr/>
          <p:nvPr/>
        </p:nvSpPr>
        <p:spPr>
          <a:xfrm>
            <a:off x="6629400" y="4023360"/>
            <a:ext cx="658368" cy="658368"/>
          </a:xfrm>
          <a:prstGeom prst="ellipse">
            <a:avLst/>
          </a:prstGeom>
          <a:solidFill>
            <a:srgbClr val="0B7A85"/>
          </a:solidFill>
          <a:ln w="12700">
            <a:solidFill>
              <a:srgbClr val="0B7A85"/>
            </a:solidFill>
            <a:prstDash val="solid"/>
          </a:ln>
        </p:spPr>
        <p:txBody>
          <a:bodyPr/>
          <a:p/>
        </p:txBody>
      </p:sp>
      <p:sp>
        <p:nvSpPr>
          <p:cNvPr id="21" name="Text 19"/>
          <p:cNvSpPr/>
          <p:nvPr/>
        </p:nvSpPr>
        <p:spPr>
          <a:xfrm>
            <a:off x="6629400" y="402336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Meiryo" pitchFamily="34" charset="0"/>
                <a:ea typeface="Meiryo" pitchFamily="34" charset="-122"/>
                <a:cs typeface="Meiryo" pitchFamily="34" charset="-120"/>
              </a:rPr>
              <a:t>04</a:t>
            </a:r>
            <a:endParaRPr lang="en-US" sz="1800" dirty="0"/>
          </a:p>
        </p:txBody>
      </p:sp>
      <p:sp>
        <p:nvSpPr>
          <p:cNvPr id="22" name="Text 20"/>
          <p:cNvSpPr/>
          <p:nvPr/>
        </p:nvSpPr>
        <p:spPr>
          <a:xfrm>
            <a:off x="7498080" y="4023360"/>
            <a:ext cx="3931920" cy="658368"/>
          </a:xfrm>
          <a:prstGeom prst="rect">
            <a:avLst/>
          </a:prstGeom>
          <a:noFill/>
          <a:ln/>
        </p:spPr>
        <p:txBody>
          <a:bodyPr wrap="square" lIns="0" tIns="0" rIns="0" bIns="0" rtlCol="0" anchor="ctr"/>
          <a:lstStyle/>
          <a:p>
            <a:pPr marL="0" indent="0">
              <a:buNone/>
            </a:pPr>
            <a:r>
              <a:rPr lang="en-US" sz="2000" b="1" dirty="0">
                <a:solidFill>
                  <a:srgbClr val="10333A"/>
                </a:solidFill>
                <a:latin typeface="Meiryo" pitchFamily="34" charset="0"/>
                <a:ea typeface="Meiryo" pitchFamily="34" charset="-122"/>
                <a:cs typeface="Meiryo" pitchFamily="34" charset="-120"/>
              </a:rPr>
              <a:t>点検表の改訂に備える</a:t>
            </a:r>
            <a:endParaRPr lang="en-US" sz="2000" dirty="0"/>
          </a:p>
        </p:txBody>
      </p:sp>
      <p:sp>
        <p:nvSpPr>
          <p:cNvPr id="23" name="Text 21"/>
          <p:cNvSpPr/>
          <p:nvPr/>
        </p:nvSpPr>
        <p:spPr>
          <a:xfrm>
            <a:off x="7498080" y="4754880"/>
            <a:ext cx="3931920" cy="1131570"/>
          </a:xfrm>
          <a:prstGeom prst="rect">
            <a:avLst/>
          </a:prstGeom>
          <a:noFill/>
          <a:ln/>
        </p:spPr>
        <p:txBody>
          <a:bodyPr wrap="square" lIns="0" tIns="0" rIns="0" bIns="0" rtlCol="0" anchor="t"/>
          <a:lstStyle/>
          <a:p>
            <a:pPr marL="0" indent="0">
              <a:lnSpc>
                <a:spcPts val="2300"/>
              </a:lnSpc>
              <a:buNone/>
            </a:pPr>
            <a:r>
              <a:rPr lang="en-US" sz="1500" dirty="0">
                <a:solidFill>
                  <a:srgbClr val="10333A"/>
                </a:solidFill>
                <a:latin typeface="Meiryo" pitchFamily="34" charset="0"/>
                <a:ea typeface="Meiryo" pitchFamily="34" charset="-122"/>
                <a:cs typeface="Meiryo" pitchFamily="34" charset="-120"/>
              </a:rPr>
              <a:t>点検項目マスタは論理削除（有効フラグ）で。</a:t>
            </a:r>
            <a:endParaRPr lang="en-US" sz="1500" dirty="0"/>
          </a:p>
          <a:p>
            <a:pPr marL="0" indent="0">
              <a:lnSpc>
                <a:spcPts val="2300"/>
              </a:lnSpc>
              <a:buNone/>
            </a:pPr>
            <a:r>
              <a:rPr lang="en-US" sz="1500" dirty="0">
                <a:solidFill>
                  <a:srgbClr val="10333A"/>
                </a:solidFill>
                <a:latin typeface="Meiryo" pitchFamily="34" charset="0"/>
                <a:ea typeface="Meiryo" pitchFamily="34" charset="-122"/>
                <a:cs typeface="Meiryo" pitchFamily="34" charset="-120"/>
              </a:rPr>
              <a:t>物理削除すると過去の点検結果が参照先を失う。</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591</Words>
  <Application>Microsoft Office PowerPoint</Application>
  <PresentationFormat>ワイド画面</PresentationFormat>
  <Paragraphs>290</Paragraphs>
  <Slides>8</Slides>
  <Notes>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Meiryo</vt:lpstr>
      <vt:lpstr>游ゴシック</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久保田 善彦</cp:lastModifiedBy>
  <cp:revision>8</cp:revision>
  <dcterms:created xsi:type="dcterms:W3CDTF">2026-07-24T01:32:34Z</dcterms:created>
  <dcterms:modified xsi:type="dcterms:W3CDTF">2026-10-09T08:40:19Z</dcterms:modified>
</cp:coreProperties>
</file>